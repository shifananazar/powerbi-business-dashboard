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0"/>
  </p:notesMasterIdLst>
  <p:sldIdLst>
    <p:sldId id="256" r:id="rId2"/>
    <p:sldId id="257" r:id="rId3"/>
    <p:sldId id="262" r:id="rId4"/>
    <p:sldId id="258" r:id="rId5"/>
    <p:sldId id="261" r:id="rId6"/>
    <p:sldId id="263" r:id="rId7"/>
    <p:sldId id="264" r:id="rId8"/>
    <p:sldId id="272" r:id="rId9"/>
    <p:sldId id="273" r:id="rId10"/>
    <p:sldId id="277" r:id="rId11"/>
    <p:sldId id="292" r:id="rId12"/>
    <p:sldId id="327" r:id="rId13"/>
    <p:sldId id="328" r:id="rId14"/>
    <p:sldId id="329" r:id="rId15"/>
    <p:sldId id="330" r:id="rId16"/>
    <p:sldId id="331" r:id="rId17"/>
    <p:sldId id="294" r:id="rId18"/>
    <p:sldId id="308" r:id="rId19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Oswald Medium" panose="00000600000000000000" pitchFamily="2" charset="0"/>
      <p:regular r:id="rId25"/>
      <p:bold r:id="rId26"/>
    </p:embeddedFont>
    <p:embeddedFont>
      <p:font typeface="Oxygen" panose="02000503000000000000" pitchFamily="2" charset="0"/>
      <p:regular r:id="rId27"/>
      <p:bold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Staatliches" pitchFamily="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934">
          <p15:clr>
            <a:srgbClr val="EA433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979EA1-8548-4C31-849C-8E3412FA5698}">
  <a:tblStyle styleId="{51979EA1-8548-4C31-849C-8E3412FA56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  <p:guide pos="340"/>
        <p:guide pos="5420"/>
        <p:guide orient="horz" pos="340"/>
        <p:guide orient="horz" pos="2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55A0AA-B7AD-43C1-949A-7E03DC24DFD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F17F50F-741B-4B4F-8F0E-A06F7564B471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Sales remained relatively stable from 2015 to 2017 but dropped significantly in 2018, indicating a potential decline in demand or operational issues.</a:t>
          </a:r>
          <a:endParaRPr lang="en-IN" dirty="0">
            <a:solidFill>
              <a:schemeClr val="bg1"/>
            </a:solidFill>
          </a:endParaRPr>
        </a:p>
      </dgm:t>
    </dgm:pt>
    <dgm:pt modelId="{130B0668-0877-4F63-B8CA-6D41AA288C40}" type="parTrans" cxnId="{9FD4AEEE-8F64-47FA-9873-4014848C45F3}">
      <dgm:prSet/>
      <dgm:spPr/>
      <dgm:t>
        <a:bodyPr/>
        <a:lstStyle/>
        <a:p>
          <a:endParaRPr lang="en-IN"/>
        </a:p>
      </dgm:t>
    </dgm:pt>
    <dgm:pt modelId="{C3740263-7A23-4209-A585-57F0893F49F8}" type="sibTrans" cxnId="{9FD4AEEE-8F64-47FA-9873-4014848C45F3}">
      <dgm:prSet/>
      <dgm:spPr/>
      <dgm:t>
        <a:bodyPr/>
        <a:lstStyle/>
        <a:p>
          <a:endParaRPr lang="en-IN"/>
        </a:p>
      </dgm:t>
    </dgm:pt>
    <dgm:pt modelId="{C27E0624-C139-4221-89E2-50538FBFFD16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 Consumer Segment contributes the highest number of orders, making it the key customer group</a:t>
          </a:r>
          <a:endParaRPr lang="en-IN" dirty="0">
            <a:solidFill>
              <a:schemeClr val="bg1"/>
            </a:solidFill>
          </a:endParaRPr>
        </a:p>
      </dgm:t>
    </dgm:pt>
    <dgm:pt modelId="{DD2C77CE-B593-4232-9C16-3266E4C18D1C}" type="parTrans" cxnId="{475212C4-2356-4CF6-8E44-D39A069193D4}">
      <dgm:prSet/>
      <dgm:spPr/>
      <dgm:t>
        <a:bodyPr/>
        <a:lstStyle/>
        <a:p>
          <a:endParaRPr lang="en-IN"/>
        </a:p>
      </dgm:t>
    </dgm:pt>
    <dgm:pt modelId="{E53F0AFC-6C1C-4F89-90F1-0347B260D0E4}" type="sibTrans" cxnId="{475212C4-2356-4CF6-8E44-D39A069193D4}">
      <dgm:prSet/>
      <dgm:spPr/>
      <dgm:t>
        <a:bodyPr/>
        <a:lstStyle/>
        <a:p>
          <a:endParaRPr lang="en-IN"/>
        </a:p>
      </dgm:t>
    </dgm:pt>
    <dgm:pt modelId="{6CF8547E-929A-46E2-A951-C2E129B59229}" type="pres">
      <dgm:prSet presAssocID="{FA55A0AA-B7AD-43C1-949A-7E03DC24DFD7}" presName="vert0" presStyleCnt="0">
        <dgm:presLayoutVars>
          <dgm:dir/>
          <dgm:animOne val="branch"/>
          <dgm:animLvl val="lvl"/>
        </dgm:presLayoutVars>
      </dgm:prSet>
      <dgm:spPr/>
    </dgm:pt>
    <dgm:pt modelId="{8EA92758-2309-482C-9A45-438C56B62FF9}" type="pres">
      <dgm:prSet presAssocID="{8F17F50F-741B-4B4F-8F0E-A06F7564B471}" presName="thickLine" presStyleLbl="alignNode1" presStyleIdx="0" presStyleCnt="2"/>
      <dgm:spPr/>
    </dgm:pt>
    <dgm:pt modelId="{E676A497-FF5B-4AA1-AA99-84BEFF89C8D8}" type="pres">
      <dgm:prSet presAssocID="{8F17F50F-741B-4B4F-8F0E-A06F7564B471}" presName="horz1" presStyleCnt="0"/>
      <dgm:spPr/>
    </dgm:pt>
    <dgm:pt modelId="{8C60CB6A-69A2-4D83-9F27-D45A74E065AA}" type="pres">
      <dgm:prSet presAssocID="{8F17F50F-741B-4B4F-8F0E-A06F7564B471}" presName="tx1" presStyleLbl="revTx" presStyleIdx="0" presStyleCnt="2"/>
      <dgm:spPr/>
    </dgm:pt>
    <dgm:pt modelId="{6FB2530D-555A-49D3-9598-B264A841FD90}" type="pres">
      <dgm:prSet presAssocID="{8F17F50F-741B-4B4F-8F0E-A06F7564B471}" presName="vert1" presStyleCnt="0"/>
      <dgm:spPr/>
    </dgm:pt>
    <dgm:pt modelId="{32EB3CEE-BB8C-433F-8F30-AC59CEADA97F}" type="pres">
      <dgm:prSet presAssocID="{C27E0624-C139-4221-89E2-50538FBFFD16}" presName="thickLine" presStyleLbl="alignNode1" presStyleIdx="1" presStyleCnt="2"/>
      <dgm:spPr/>
    </dgm:pt>
    <dgm:pt modelId="{1BDA481D-8DE4-4D87-8AE2-6E87843C2DBD}" type="pres">
      <dgm:prSet presAssocID="{C27E0624-C139-4221-89E2-50538FBFFD16}" presName="horz1" presStyleCnt="0"/>
      <dgm:spPr/>
    </dgm:pt>
    <dgm:pt modelId="{B7ED51E3-A912-4F51-ADE1-42AF1F7B7D0B}" type="pres">
      <dgm:prSet presAssocID="{C27E0624-C139-4221-89E2-50538FBFFD16}" presName="tx1" presStyleLbl="revTx" presStyleIdx="1" presStyleCnt="2"/>
      <dgm:spPr/>
    </dgm:pt>
    <dgm:pt modelId="{5B9B51A8-D8F2-42C1-8828-1FE6E5ECEA72}" type="pres">
      <dgm:prSet presAssocID="{C27E0624-C139-4221-89E2-50538FBFFD16}" presName="vert1" presStyleCnt="0"/>
      <dgm:spPr/>
    </dgm:pt>
  </dgm:ptLst>
  <dgm:cxnLst>
    <dgm:cxn modelId="{CF59BC26-716C-43B8-B22D-7711B5A8DCF1}" type="presOf" srcId="{8F17F50F-741B-4B4F-8F0E-A06F7564B471}" destId="{8C60CB6A-69A2-4D83-9F27-D45A74E065AA}" srcOrd="0" destOrd="0" presId="urn:microsoft.com/office/officeart/2008/layout/LinedList"/>
    <dgm:cxn modelId="{0B53E62D-BE46-41B4-898A-695CC8CC4B37}" type="presOf" srcId="{FA55A0AA-B7AD-43C1-949A-7E03DC24DFD7}" destId="{6CF8547E-929A-46E2-A951-C2E129B59229}" srcOrd="0" destOrd="0" presId="urn:microsoft.com/office/officeart/2008/layout/LinedList"/>
    <dgm:cxn modelId="{C54BB73B-3AD0-4C68-8877-AFA2F983CBD0}" type="presOf" srcId="{C27E0624-C139-4221-89E2-50538FBFFD16}" destId="{B7ED51E3-A912-4F51-ADE1-42AF1F7B7D0B}" srcOrd="0" destOrd="0" presId="urn:microsoft.com/office/officeart/2008/layout/LinedList"/>
    <dgm:cxn modelId="{475212C4-2356-4CF6-8E44-D39A069193D4}" srcId="{FA55A0AA-B7AD-43C1-949A-7E03DC24DFD7}" destId="{C27E0624-C139-4221-89E2-50538FBFFD16}" srcOrd="1" destOrd="0" parTransId="{DD2C77CE-B593-4232-9C16-3266E4C18D1C}" sibTransId="{E53F0AFC-6C1C-4F89-90F1-0347B260D0E4}"/>
    <dgm:cxn modelId="{9FD4AEEE-8F64-47FA-9873-4014848C45F3}" srcId="{FA55A0AA-B7AD-43C1-949A-7E03DC24DFD7}" destId="{8F17F50F-741B-4B4F-8F0E-A06F7564B471}" srcOrd="0" destOrd="0" parTransId="{130B0668-0877-4F63-B8CA-6D41AA288C40}" sibTransId="{C3740263-7A23-4209-A585-57F0893F49F8}"/>
    <dgm:cxn modelId="{E0F59FCC-C3FA-446B-ABB4-0C03EBFEB8E9}" type="presParOf" srcId="{6CF8547E-929A-46E2-A951-C2E129B59229}" destId="{8EA92758-2309-482C-9A45-438C56B62FF9}" srcOrd="0" destOrd="0" presId="urn:microsoft.com/office/officeart/2008/layout/LinedList"/>
    <dgm:cxn modelId="{119E0DC6-5B4B-451C-A128-D226C1F21239}" type="presParOf" srcId="{6CF8547E-929A-46E2-A951-C2E129B59229}" destId="{E676A497-FF5B-4AA1-AA99-84BEFF89C8D8}" srcOrd="1" destOrd="0" presId="urn:microsoft.com/office/officeart/2008/layout/LinedList"/>
    <dgm:cxn modelId="{6288A456-190F-4BF5-A8FA-FD3568ABDBC7}" type="presParOf" srcId="{E676A497-FF5B-4AA1-AA99-84BEFF89C8D8}" destId="{8C60CB6A-69A2-4D83-9F27-D45A74E065AA}" srcOrd="0" destOrd="0" presId="urn:microsoft.com/office/officeart/2008/layout/LinedList"/>
    <dgm:cxn modelId="{5C26555C-ECA5-46BB-9B19-557B55BA89AB}" type="presParOf" srcId="{E676A497-FF5B-4AA1-AA99-84BEFF89C8D8}" destId="{6FB2530D-555A-49D3-9598-B264A841FD90}" srcOrd="1" destOrd="0" presId="urn:microsoft.com/office/officeart/2008/layout/LinedList"/>
    <dgm:cxn modelId="{7F03CCAA-3E90-4E49-8484-E8F4F0B95E9A}" type="presParOf" srcId="{6CF8547E-929A-46E2-A951-C2E129B59229}" destId="{32EB3CEE-BB8C-433F-8F30-AC59CEADA97F}" srcOrd="2" destOrd="0" presId="urn:microsoft.com/office/officeart/2008/layout/LinedList"/>
    <dgm:cxn modelId="{2EE6426B-CAD6-455E-B231-069666652BF8}" type="presParOf" srcId="{6CF8547E-929A-46E2-A951-C2E129B59229}" destId="{1BDA481D-8DE4-4D87-8AE2-6E87843C2DBD}" srcOrd="3" destOrd="0" presId="urn:microsoft.com/office/officeart/2008/layout/LinedList"/>
    <dgm:cxn modelId="{167FB6E3-F746-4713-8FBB-59E8571A370E}" type="presParOf" srcId="{1BDA481D-8DE4-4D87-8AE2-6E87843C2DBD}" destId="{B7ED51E3-A912-4F51-ADE1-42AF1F7B7D0B}" srcOrd="0" destOrd="0" presId="urn:microsoft.com/office/officeart/2008/layout/LinedList"/>
    <dgm:cxn modelId="{DCB4A90A-AD96-4F01-8FD5-423379E9EF98}" type="presParOf" srcId="{1BDA481D-8DE4-4D87-8AE2-6E87843C2DBD}" destId="{5B9B51A8-D8F2-42C1-8828-1FE6E5ECEA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D23134-0C90-46EA-81C1-2F885D05CB0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DE8B5F2-8DCB-4D13-A9E9-D7A1340F6D92}">
      <dgm:prSet/>
      <dgm:spPr/>
      <dgm:t>
        <a:bodyPr/>
        <a:lstStyle/>
        <a:p>
          <a:r>
            <a:rPr lang="en-US" b="1" i="0" dirty="0">
              <a:solidFill>
                <a:schemeClr val="bg1"/>
              </a:solidFill>
            </a:rPr>
            <a:t>Standard Class shipping has the highest number of late deliveries</a:t>
          </a:r>
          <a:r>
            <a:rPr lang="en-US" b="0" i="0" dirty="0">
              <a:solidFill>
                <a:schemeClr val="bg1"/>
              </a:solidFill>
            </a:rPr>
            <a:t>, making it the biggest contributor to delays</a:t>
          </a:r>
          <a:endParaRPr lang="en-IN" dirty="0">
            <a:solidFill>
              <a:schemeClr val="bg1"/>
            </a:solidFill>
          </a:endParaRPr>
        </a:p>
      </dgm:t>
    </dgm:pt>
    <dgm:pt modelId="{4FDF9EB8-7035-4D8D-AD5B-682553AFBF94}" type="parTrans" cxnId="{49D1142A-5ABB-4616-80E2-19D77EA698B2}">
      <dgm:prSet/>
      <dgm:spPr/>
      <dgm:t>
        <a:bodyPr/>
        <a:lstStyle/>
        <a:p>
          <a:endParaRPr lang="en-IN"/>
        </a:p>
      </dgm:t>
    </dgm:pt>
    <dgm:pt modelId="{B4DCE8BA-DA20-4739-ADC3-CAAE84F9573E}" type="sibTrans" cxnId="{49D1142A-5ABB-4616-80E2-19D77EA698B2}">
      <dgm:prSet/>
      <dgm:spPr/>
      <dgm:t>
        <a:bodyPr/>
        <a:lstStyle/>
        <a:p>
          <a:endParaRPr lang="en-IN"/>
        </a:p>
      </dgm:t>
    </dgm:pt>
    <dgm:pt modelId="{C48310CD-5C47-4592-82B3-B7C62EAB1033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There is a clear gap between </a:t>
          </a:r>
          <a:r>
            <a:rPr lang="en-US" b="1" i="0" dirty="0">
              <a:solidFill>
                <a:schemeClr val="bg1"/>
              </a:solidFill>
            </a:rPr>
            <a:t>scheduled and actual delivery time</a:t>
          </a:r>
          <a:r>
            <a:rPr lang="en-US" b="0" i="0" dirty="0">
              <a:solidFill>
                <a:schemeClr val="bg1"/>
              </a:solidFill>
            </a:rPr>
            <a:t>, especially in Standard and Second Class shipping.</a:t>
          </a:r>
          <a:endParaRPr lang="en-IN" dirty="0">
            <a:solidFill>
              <a:schemeClr val="bg1"/>
            </a:solidFill>
          </a:endParaRPr>
        </a:p>
      </dgm:t>
    </dgm:pt>
    <dgm:pt modelId="{9C29128C-A69D-491C-9E25-CE9C5D3A9B11}" type="parTrans" cxnId="{11B04130-C0F7-4D32-9AA7-6DAE5D2F17FB}">
      <dgm:prSet/>
      <dgm:spPr/>
      <dgm:t>
        <a:bodyPr/>
        <a:lstStyle/>
        <a:p>
          <a:endParaRPr lang="en-IN"/>
        </a:p>
      </dgm:t>
    </dgm:pt>
    <dgm:pt modelId="{E77E1FA8-E2F2-4B84-AAC3-D8EEA56A529A}" type="sibTrans" cxnId="{11B04130-C0F7-4D32-9AA7-6DAE5D2F17FB}">
      <dgm:prSet/>
      <dgm:spPr/>
      <dgm:t>
        <a:bodyPr/>
        <a:lstStyle/>
        <a:p>
          <a:endParaRPr lang="en-IN"/>
        </a:p>
      </dgm:t>
    </dgm:pt>
    <dgm:pt modelId="{3AC4CD56-6C81-48AF-A1A1-53F80B460ECA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Late delivery percentage has </a:t>
          </a:r>
          <a:r>
            <a:rPr lang="en-US" b="1" i="0" dirty="0">
              <a:solidFill>
                <a:schemeClr val="bg1"/>
              </a:solidFill>
            </a:rPr>
            <a:t>increased in 2018</a:t>
          </a:r>
          <a:r>
            <a:rPr lang="en-US" b="0" i="0" dirty="0">
              <a:solidFill>
                <a:schemeClr val="bg1"/>
              </a:solidFill>
            </a:rPr>
            <a:t>, indicating worsening logistics performance.</a:t>
          </a:r>
          <a:endParaRPr lang="en-IN" dirty="0">
            <a:solidFill>
              <a:schemeClr val="bg1"/>
            </a:solidFill>
          </a:endParaRPr>
        </a:p>
      </dgm:t>
    </dgm:pt>
    <dgm:pt modelId="{011239F8-69F6-4E59-ADF9-62B0FA13D706}" type="parTrans" cxnId="{661DAEE5-9B47-499D-B71F-B267ACE7E07B}">
      <dgm:prSet/>
      <dgm:spPr/>
      <dgm:t>
        <a:bodyPr/>
        <a:lstStyle/>
        <a:p>
          <a:endParaRPr lang="en-IN"/>
        </a:p>
      </dgm:t>
    </dgm:pt>
    <dgm:pt modelId="{1A0CFE5F-254B-40D2-9365-D26F2F645F80}" type="sibTrans" cxnId="{661DAEE5-9B47-499D-B71F-B267ACE7E07B}">
      <dgm:prSet/>
      <dgm:spPr/>
      <dgm:t>
        <a:bodyPr/>
        <a:lstStyle/>
        <a:p>
          <a:endParaRPr lang="en-IN"/>
        </a:p>
      </dgm:t>
    </dgm:pt>
    <dgm:pt modelId="{3816FC67-09DC-4589-AB04-B47BF054AFE8}" type="pres">
      <dgm:prSet presAssocID="{28D23134-0C90-46EA-81C1-2F885D05CB02}" presName="vert0" presStyleCnt="0">
        <dgm:presLayoutVars>
          <dgm:dir/>
          <dgm:animOne val="branch"/>
          <dgm:animLvl val="lvl"/>
        </dgm:presLayoutVars>
      </dgm:prSet>
      <dgm:spPr/>
    </dgm:pt>
    <dgm:pt modelId="{9A97FB36-83EB-4345-AB1F-237CF1D3381F}" type="pres">
      <dgm:prSet presAssocID="{DDE8B5F2-8DCB-4D13-A9E9-D7A1340F6D92}" presName="thickLine" presStyleLbl="alignNode1" presStyleIdx="0" presStyleCnt="3"/>
      <dgm:spPr/>
    </dgm:pt>
    <dgm:pt modelId="{D35CD844-9610-4591-B350-F49AEEB9BBE5}" type="pres">
      <dgm:prSet presAssocID="{DDE8B5F2-8DCB-4D13-A9E9-D7A1340F6D92}" presName="horz1" presStyleCnt="0"/>
      <dgm:spPr/>
    </dgm:pt>
    <dgm:pt modelId="{6F39C60B-F6A7-4B11-9D04-08597ED14F6A}" type="pres">
      <dgm:prSet presAssocID="{DDE8B5F2-8DCB-4D13-A9E9-D7A1340F6D92}" presName="tx1" presStyleLbl="revTx" presStyleIdx="0" presStyleCnt="3"/>
      <dgm:spPr/>
    </dgm:pt>
    <dgm:pt modelId="{5FFBF3DE-E556-4004-923F-ABE135545CD5}" type="pres">
      <dgm:prSet presAssocID="{DDE8B5F2-8DCB-4D13-A9E9-D7A1340F6D92}" presName="vert1" presStyleCnt="0"/>
      <dgm:spPr/>
    </dgm:pt>
    <dgm:pt modelId="{68C5E505-BAA4-4647-B8EA-3DA8EE27C95E}" type="pres">
      <dgm:prSet presAssocID="{C48310CD-5C47-4592-82B3-B7C62EAB1033}" presName="thickLine" presStyleLbl="alignNode1" presStyleIdx="1" presStyleCnt="3"/>
      <dgm:spPr/>
    </dgm:pt>
    <dgm:pt modelId="{A7A65FD4-A4DE-4208-95DD-22529B7AAF8F}" type="pres">
      <dgm:prSet presAssocID="{C48310CD-5C47-4592-82B3-B7C62EAB1033}" presName="horz1" presStyleCnt="0"/>
      <dgm:spPr/>
    </dgm:pt>
    <dgm:pt modelId="{B8022596-9612-49CF-980D-B821DCEC5347}" type="pres">
      <dgm:prSet presAssocID="{C48310CD-5C47-4592-82B3-B7C62EAB1033}" presName="tx1" presStyleLbl="revTx" presStyleIdx="1" presStyleCnt="3"/>
      <dgm:spPr/>
    </dgm:pt>
    <dgm:pt modelId="{A0D92287-4F8F-490B-A291-0DAB03D30EA4}" type="pres">
      <dgm:prSet presAssocID="{C48310CD-5C47-4592-82B3-B7C62EAB1033}" presName="vert1" presStyleCnt="0"/>
      <dgm:spPr/>
    </dgm:pt>
    <dgm:pt modelId="{C82D858A-39C8-4440-8AF6-02F7317E1AF0}" type="pres">
      <dgm:prSet presAssocID="{3AC4CD56-6C81-48AF-A1A1-53F80B460ECA}" presName="thickLine" presStyleLbl="alignNode1" presStyleIdx="2" presStyleCnt="3"/>
      <dgm:spPr/>
    </dgm:pt>
    <dgm:pt modelId="{5549D938-C611-4EFE-8E73-53E54A64D29A}" type="pres">
      <dgm:prSet presAssocID="{3AC4CD56-6C81-48AF-A1A1-53F80B460ECA}" presName="horz1" presStyleCnt="0"/>
      <dgm:spPr/>
    </dgm:pt>
    <dgm:pt modelId="{E931C353-4F28-4ABA-BD0F-E9AFFB21ADEE}" type="pres">
      <dgm:prSet presAssocID="{3AC4CD56-6C81-48AF-A1A1-53F80B460ECA}" presName="tx1" presStyleLbl="revTx" presStyleIdx="2" presStyleCnt="3"/>
      <dgm:spPr/>
    </dgm:pt>
    <dgm:pt modelId="{D13B9104-A34B-4022-892E-3604C6EB684B}" type="pres">
      <dgm:prSet presAssocID="{3AC4CD56-6C81-48AF-A1A1-53F80B460ECA}" presName="vert1" presStyleCnt="0"/>
      <dgm:spPr/>
    </dgm:pt>
  </dgm:ptLst>
  <dgm:cxnLst>
    <dgm:cxn modelId="{49D1142A-5ABB-4616-80E2-19D77EA698B2}" srcId="{28D23134-0C90-46EA-81C1-2F885D05CB02}" destId="{DDE8B5F2-8DCB-4D13-A9E9-D7A1340F6D92}" srcOrd="0" destOrd="0" parTransId="{4FDF9EB8-7035-4D8D-AD5B-682553AFBF94}" sibTransId="{B4DCE8BA-DA20-4739-ADC3-CAAE84F9573E}"/>
    <dgm:cxn modelId="{11B04130-C0F7-4D32-9AA7-6DAE5D2F17FB}" srcId="{28D23134-0C90-46EA-81C1-2F885D05CB02}" destId="{C48310CD-5C47-4592-82B3-B7C62EAB1033}" srcOrd="1" destOrd="0" parTransId="{9C29128C-A69D-491C-9E25-CE9C5D3A9B11}" sibTransId="{E77E1FA8-E2F2-4B84-AAC3-D8EEA56A529A}"/>
    <dgm:cxn modelId="{1081A177-F170-4CDA-B6AC-01450B3DED1C}" type="presOf" srcId="{C48310CD-5C47-4592-82B3-B7C62EAB1033}" destId="{B8022596-9612-49CF-980D-B821DCEC5347}" srcOrd="0" destOrd="0" presId="urn:microsoft.com/office/officeart/2008/layout/LinedList"/>
    <dgm:cxn modelId="{ACD5ABA9-2864-4121-8F94-5F49EA0158CE}" type="presOf" srcId="{3AC4CD56-6C81-48AF-A1A1-53F80B460ECA}" destId="{E931C353-4F28-4ABA-BD0F-E9AFFB21ADEE}" srcOrd="0" destOrd="0" presId="urn:microsoft.com/office/officeart/2008/layout/LinedList"/>
    <dgm:cxn modelId="{CB635AB7-C618-497D-8A5F-BC2A5727E01F}" type="presOf" srcId="{28D23134-0C90-46EA-81C1-2F885D05CB02}" destId="{3816FC67-09DC-4589-AB04-B47BF054AFE8}" srcOrd="0" destOrd="0" presId="urn:microsoft.com/office/officeart/2008/layout/LinedList"/>
    <dgm:cxn modelId="{4C4CA9E1-CECA-4A78-ACA4-B621549820D2}" type="presOf" srcId="{DDE8B5F2-8DCB-4D13-A9E9-D7A1340F6D92}" destId="{6F39C60B-F6A7-4B11-9D04-08597ED14F6A}" srcOrd="0" destOrd="0" presId="urn:microsoft.com/office/officeart/2008/layout/LinedList"/>
    <dgm:cxn modelId="{661DAEE5-9B47-499D-B71F-B267ACE7E07B}" srcId="{28D23134-0C90-46EA-81C1-2F885D05CB02}" destId="{3AC4CD56-6C81-48AF-A1A1-53F80B460ECA}" srcOrd="2" destOrd="0" parTransId="{011239F8-69F6-4E59-ADF9-62B0FA13D706}" sibTransId="{1A0CFE5F-254B-40D2-9365-D26F2F645F80}"/>
    <dgm:cxn modelId="{ABA9625F-A772-4976-8B95-ACF59FCAFC87}" type="presParOf" srcId="{3816FC67-09DC-4589-AB04-B47BF054AFE8}" destId="{9A97FB36-83EB-4345-AB1F-237CF1D3381F}" srcOrd="0" destOrd="0" presId="urn:microsoft.com/office/officeart/2008/layout/LinedList"/>
    <dgm:cxn modelId="{BEE302A7-BA1D-414E-8A28-B2935F3DD03B}" type="presParOf" srcId="{3816FC67-09DC-4589-AB04-B47BF054AFE8}" destId="{D35CD844-9610-4591-B350-F49AEEB9BBE5}" srcOrd="1" destOrd="0" presId="urn:microsoft.com/office/officeart/2008/layout/LinedList"/>
    <dgm:cxn modelId="{F8F413E2-8C48-421C-B678-845F3024D464}" type="presParOf" srcId="{D35CD844-9610-4591-B350-F49AEEB9BBE5}" destId="{6F39C60B-F6A7-4B11-9D04-08597ED14F6A}" srcOrd="0" destOrd="0" presId="urn:microsoft.com/office/officeart/2008/layout/LinedList"/>
    <dgm:cxn modelId="{208D79CB-3675-4384-BFB5-1D64F3A19F57}" type="presParOf" srcId="{D35CD844-9610-4591-B350-F49AEEB9BBE5}" destId="{5FFBF3DE-E556-4004-923F-ABE135545CD5}" srcOrd="1" destOrd="0" presId="urn:microsoft.com/office/officeart/2008/layout/LinedList"/>
    <dgm:cxn modelId="{9898B2D8-4021-4B0A-A3BB-D771428B078C}" type="presParOf" srcId="{3816FC67-09DC-4589-AB04-B47BF054AFE8}" destId="{68C5E505-BAA4-4647-B8EA-3DA8EE27C95E}" srcOrd="2" destOrd="0" presId="urn:microsoft.com/office/officeart/2008/layout/LinedList"/>
    <dgm:cxn modelId="{064B35C3-CB39-4846-ABF6-DAA0E3060F49}" type="presParOf" srcId="{3816FC67-09DC-4589-AB04-B47BF054AFE8}" destId="{A7A65FD4-A4DE-4208-95DD-22529B7AAF8F}" srcOrd="3" destOrd="0" presId="urn:microsoft.com/office/officeart/2008/layout/LinedList"/>
    <dgm:cxn modelId="{5C6AEE80-E7C0-450C-9585-C0689E7CC028}" type="presParOf" srcId="{A7A65FD4-A4DE-4208-95DD-22529B7AAF8F}" destId="{B8022596-9612-49CF-980D-B821DCEC5347}" srcOrd="0" destOrd="0" presId="urn:microsoft.com/office/officeart/2008/layout/LinedList"/>
    <dgm:cxn modelId="{F13DCF30-4448-4A7C-94BB-BA708111DC48}" type="presParOf" srcId="{A7A65FD4-A4DE-4208-95DD-22529B7AAF8F}" destId="{A0D92287-4F8F-490B-A291-0DAB03D30EA4}" srcOrd="1" destOrd="0" presId="urn:microsoft.com/office/officeart/2008/layout/LinedList"/>
    <dgm:cxn modelId="{FD9EB162-7AE5-4247-994D-B210879DDAD4}" type="presParOf" srcId="{3816FC67-09DC-4589-AB04-B47BF054AFE8}" destId="{C82D858A-39C8-4440-8AF6-02F7317E1AF0}" srcOrd="4" destOrd="0" presId="urn:microsoft.com/office/officeart/2008/layout/LinedList"/>
    <dgm:cxn modelId="{F7605001-A775-4014-87E4-DACA52EDD775}" type="presParOf" srcId="{3816FC67-09DC-4589-AB04-B47BF054AFE8}" destId="{5549D938-C611-4EFE-8E73-53E54A64D29A}" srcOrd="5" destOrd="0" presId="urn:microsoft.com/office/officeart/2008/layout/LinedList"/>
    <dgm:cxn modelId="{FD9745F8-84A4-4461-9AB3-1FBB159CE497}" type="presParOf" srcId="{5549D938-C611-4EFE-8E73-53E54A64D29A}" destId="{E931C353-4F28-4ABA-BD0F-E9AFFB21ADEE}" srcOrd="0" destOrd="0" presId="urn:microsoft.com/office/officeart/2008/layout/LinedList"/>
    <dgm:cxn modelId="{3F405275-D553-49DE-9F20-5C7BD3248258}" type="presParOf" srcId="{5549D938-C611-4EFE-8E73-53E54A64D29A}" destId="{D13B9104-A34B-4022-892E-3604C6EB68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AE3DA3-497D-4DA9-AAB5-296E88F6FC8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7875BF9-FB71-4ED4-BEEC-CB711C9D850C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A small number of products and categories contribute to the majority of sales, showing a </a:t>
          </a:r>
          <a:r>
            <a:rPr lang="en-US" b="1" i="0" dirty="0">
              <a:solidFill>
                <a:schemeClr val="bg1"/>
              </a:solidFill>
            </a:rPr>
            <a:t>concentration of revenue in top-performing items</a:t>
          </a:r>
          <a:endParaRPr lang="en-IN" dirty="0">
            <a:solidFill>
              <a:schemeClr val="bg1"/>
            </a:solidFill>
          </a:endParaRPr>
        </a:p>
      </dgm:t>
    </dgm:pt>
    <dgm:pt modelId="{593E949E-E5E6-404E-9D6E-88AFF34FB9A5}" type="parTrans" cxnId="{5EA22084-E50B-489F-8FE7-6E1D9652C83A}">
      <dgm:prSet/>
      <dgm:spPr/>
      <dgm:t>
        <a:bodyPr/>
        <a:lstStyle/>
        <a:p>
          <a:endParaRPr lang="en-IN"/>
        </a:p>
      </dgm:t>
    </dgm:pt>
    <dgm:pt modelId="{6779F1DD-30D4-4EFF-ABCB-7AA1C7FCD155}" type="sibTrans" cxnId="{5EA22084-E50B-489F-8FE7-6E1D9652C83A}">
      <dgm:prSet/>
      <dgm:spPr/>
      <dgm:t>
        <a:bodyPr/>
        <a:lstStyle/>
        <a:p>
          <a:endParaRPr lang="en-IN"/>
        </a:p>
      </dgm:t>
    </dgm:pt>
    <dgm:pt modelId="{A08F0411-2163-4E01-9C24-F47F6BA82C87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 </a:t>
          </a:r>
          <a:r>
            <a:rPr lang="en-US" b="1" i="0" dirty="0">
              <a:solidFill>
                <a:schemeClr val="bg1"/>
              </a:solidFill>
            </a:rPr>
            <a:t>Fishing and Cleats categories generate the highest sales</a:t>
          </a:r>
          <a:r>
            <a:rPr lang="en-US" b="0" i="0" dirty="0">
              <a:solidFill>
                <a:schemeClr val="bg1"/>
              </a:solidFill>
            </a:rPr>
            <a:t>, making them key revenue drivers</a:t>
          </a:r>
          <a:endParaRPr lang="en-IN" dirty="0">
            <a:solidFill>
              <a:schemeClr val="bg1"/>
            </a:solidFill>
          </a:endParaRPr>
        </a:p>
      </dgm:t>
    </dgm:pt>
    <dgm:pt modelId="{49860F08-C5EC-4DA9-8E78-974A6EE67E6E}" type="parTrans" cxnId="{FE2E362B-4943-4A27-8156-D7444B329A23}">
      <dgm:prSet/>
      <dgm:spPr/>
      <dgm:t>
        <a:bodyPr/>
        <a:lstStyle/>
        <a:p>
          <a:endParaRPr lang="en-IN"/>
        </a:p>
      </dgm:t>
    </dgm:pt>
    <dgm:pt modelId="{C094967C-63AF-4E72-A73F-618E69CE2B6C}" type="sibTrans" cxnId="{FE2E362B-4943-4A27-8156-D7444B329A23}">
      <dgm:prSet/>
      <dgm:spPr/>
      <dgm:t>
        <a:bodyPr/>
        <a:lstStyle/>
        <a:p>
          <a:endParaRPr lang="en-IN"/>
        </a:p>
      </dgm:t>
    </dgm:pt>
    <dgm:pt modelId="{DD04BEFA-2A44-4ED5-9676-C6CC1E847A9F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There is a </a:t>
          </a:r>
          <a:r>
            <a:rPr lang="en-US" b="1" i="0" dirty="0">
              <a:solidFill>
                <a:schemeClr val="bg1"/>
              </a:solidFill>
            </a:rPr>
            <a:t>negative relationship between discount and profit</a:t>
          </a:r>
          <a:r>
            <a:rPr lang="en-US" b="0" i="0" dirty="0">
              <a:solidFill>
                <a:schemeClr val="bg1"/>
              </a:solidFill>
            </a:rPr>
            <a:t>, where higher discounts lead to lower profit per order</a:t>
          </a:r>
          <a:r>
            <a:rPr lang="en-US" b="0" i="0" dirty="0"/>
            <a:t>.</a:t>
          </a:r>
          <a:endParaRPr lang="en-IN" dirty="0"/>
        </a:p>
      </dgm:t>
    </dgm:pt>
    <dgm:pt modelId="{15A9F651-8E9D-4354-9C32-CD36DC8B18A1}" type="parTrans" cxnId="{432CBBE7-2FD9-470E-8664-9C8CCD88D235}">
      <dgm:prSet/>
      <dgm:spPr/>
      <dgm:t>
        <a:bodyPr/>
        <a:lstStyle/>
        <a:p>
          <a:endParaRPr lang="en-IN"/>
        </a:p>
      </dgm:t>
    </dgm:pt>
    <dgm:pt modelId="{F93AFC24-02F1-4030-90A2-D5BBD612AFB5}" type="sibTrans" cxnId="{432CBBE7-2FD9-470E-8664-9C8CCD88D235}">
      <dgm:prSet/>
      <dgm:spPr/>
      <dgm:t>
        <a:bodyPr/>
        <a:lstStyle/>
        <a:p>
          <a:endParaRPr lang="en-IN"/>
        </a:p>
      </dgm:t>
    </dgm:pt>
    <dgm:pt modelId="{B3AFCA67-B060-473B-B46E-BFD11D8751AA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This suggests that aggressive discounting strategies are </a:t>
          </a:r>
          <a:r>
            <a:rPr lang="en-US" b="1" i="0" dirty="0">
              <a:solidFill>
                <a:schemeClr val="bg1"/>
              </a:solidFill>
            </a:rPr>
            <a:t>reducing profitability</a:t>
          </a:r>
          <a:r>
            <a:rPr lang="en-US" b="0" i="0" dirty="0"/>
            <a:t>.</a:t>
          </a:r>
          <a:endParaRPr lang="en-IN" dirty="0"/>
        </a:p>
      </dgm:t>
    </dgm:pt>
    <dgm:pt modelId="{3777F912-D411-4D31-8AA4-53F25E1EDB6D}" type="parTrans" cxnId="{F92C7A5D-4790-4BE1-9E05-AB7405107F8C}">
      <dgm:prSet/>
      <dgm:spPr/>
      <dgm:t>
        <a:bodyPr/>
        <a:lstStyle/>
        <a:p>
          <a:endParaRPr lang="en-IN"/>
        </a:p>
      </dgm:t>
    </dgm:pt>
    <dgm:pt modelId="{92074FCB-C7D2-4F12-AD3D-98EBC0646E1F}" type="sibTrans" cxnId="{F92C7A5D-4790-4BE1-9E05-AB7405107F8C}">
      <dgm:prSet/>
      <dgm:spPr/>
      <dgm:t>
        <a:bodyPr/>
        <a:lstStyle/>
        <a:p>
          <a:endParaRPr lang="en-IN"/>
        </a:p>
      </dgm:t>
    </dgm:pt>
    <dgm:pt modelId="{2D3A9216-8A1D-4C7D-82A9-FCD27D4D2C92}" type="pres">
      <dgm:prSet presAssocID="{C8AE3DA3-497D-4DA9-AAB5-296E88F6FC80}" presName="vert0" presStyleCnt="0">
        <dgm:presLayoutVars>
          <dgm:dir/>
          <dgm:animOne val="branch"/>
          <dgm:animLvl val="lvl"/>
        </dgm:presLayoutVars>
      </dgm:prSet>
      <dgm:spPr/>
    </dgm:pt>
    <dgm:pt modelId="{272554B0-1D54-4C3B-A9F5-A60A4F24A357}" type="pres">
      <dgm:prSet presAssocID="{27875BF9-FB71-4ED4-BEEC-CB711C9D850C}" presName="thickLine" presStyleLbl="alignNode1" presStyleIdx="0" presStyleCnt="4"/>
      <dgm:spPr/>
    </dgm:pt>
    <dgm:pt modelId="{09B9B31D-1AB0-414B-868D-96C9F82A577B}" type="pres">
      <dgm:prSet presAssocID="{27875BF9-FB71-4ED4-BEEC-CB711C9D850C}" presName="horz1" presStyleCnt="0"/>
      <dgm:spPr/>
    </dgm:pt>
    <dgm:pt modelId="{22351468-0C5A-424D-9C25-2073BD039C2C}" type="pres">
      <dgm:prSet presAssocID="{27875BF9-FB71-4ED4-BEEC-CB711C9D850C}" presName="tx1" presStyleLbl="revTx" presStyleIdx="0" presStyleCnt="4"/>
      <dgm:spPr/>
    </dgm:pt>
    <dgm:pt modelId="{724E6B24-A52B-421C-9923-B01453614D61}" type="pres">
      <dgm:prSet presAssocID="{27875BF9-FB71-4ED4-BEEC-CB711C9D850C}" presName="vert1" presStyleCnt="0"/>
      <dgm:spPr/>
    </dgm:pt>
    <dgm:pt modelId="{0054AAE3-B7EA-46E4-BE75-7FFF2E55BF5C}" type="pres">
      <dgm:prSet presAssocID="{A08F0411-2163-4E01-9C24-F47F6BA82C87}" presName="thickLine" presStyleLbl="alignNode1" presStyleIdx="1" presStyleCnt="4"/>
      <dgm:spPr/>
    </dgm:pt>
    <dgm:pt modelId="{0C34A4C3-C2C3-4537-B145-A87F493C0AFB}" type="pres">
      <dgm:prSet presAssocID="{A08F0411-2163-4E01-9C24-F47F6BA82C87}" presName="horz1" presStyleCnt="0"/>
      <dgm:spPr/>
    </dgm:pt>
    <dgm:pt modelId="{1C144624-3AE3-4EAE-9DA5-96EF81AC89D9}" type="pres">
      <dgm:prSet presAssocID="{A08F0411-2163-4E01-9C24-F47F6BA82C87}" presName="tx1" presStyleLbl="revTx" presStyleIdx="1" presStyleCnt="4"/>
      <dgm:spPr/>
    </dgm:pt>
    <dgm:pt modelId="{443F2E82-98FE-4924-8657-793E022AD7EC}" type="pres">
      <dgm:prSet presAssocID="{A08F0411-2163-4E01-9C24-F47F6BA82C87}" presName="vert1" presStyleCnt="0"/>
      <dgm:spPr/>
    </dgm:pt>
    <dgm:pt modelId="{EBC26FFF-EA70-4CDC-ACAD-274D35F29925}" type="pres">
      <dgm:prSet presAssocID="{DD04BEFA-2A44-4ED5-9676-C6CC1E847A9F}" presName="thickLine" presStyleLbl="alignNode1" presStyleIdx="2" presStyleCnt="4"/>
      <dgm:spPr/>
    </dgm:pt>
    <dgm:pt modelId="{7CE8BBA4-F32A-46A7-BB2A-775E584C21D5}" type="pres">
      <dgm:prSet presAssocID="{DD04BEFA-2A44-4ED5-9676-C6CC1E847A9F}" presName="horz1" presStyleCnt="0"/>
      <dgm:spPr/>
    </dgm:pt>
    <dgm:pt modelId="{4AECF5A5-C977-4470-8E0A-C39031269FC1}" type="pres">
      <dgm:prSet presAssocID="{DD04BEFA-2A44-4ED5-9676-C6CC1E847A9F}" presName="tx1" presStyleLbl="revTx" presStyleIdx="2" presStyleCnt="4"/>
      <dgm:spPr/>
    </dgm:pt>
    <dgm:pt modelId="{5EA3918E-941C-4816-A6D7-A0A982C0255C}" type="pres">
      <dgm:prSet presAssocID="{DD04BEFA-2A44-4ED5-9676-C6CC1E847A9F}" presName="vert1" presStyleCnt="0"/>
      <dgm:spPr/>
    </dgm:pt>
    <dgm:pt modelId="{A77BA669-6257-42EB-8763-4ACEB139F765}" type="pres">
      <dgm:prSet presAssocID="{B3AFCA67-B060-473B-B46E-BFD11D8751AA}" presName="thickLine" presStyleLbl="alignNode1" presStyleIdx="3" presStyleCnt="4"/>
      <dgm:spPr/>
    </dgm:pt>
    <dgm:pt modelId="{51A82718-9FBF-4E3C-AB1A-ACF08986BE03}" type="pres">
      <dgm:prSet presAssocID="{B3AFCA67-B060-473B-B46E-BFD11D8751AA}" presName="horz1" presStyleCnt="0"/>
      <dgm:spPr/>
    </dgm:pt>
    <dgm:pt modelId="{71104129-A926-4E7E-AFC3-CC67B6777F9A}" type="pres">
      <dgm:prSet presAssocID="{B3AFCA67-B060-473B-B46E-BFD11D8751AA}" presName="tx1" presStyleLbl="revTx" presStyleIdx="3" presStyleCnt="4"/>
      <dgm:spPr/>
    </dgm:pt>
    <dgm:pt modelId="{F8E747B7-9BDC-4143-AC10-69489E68619A}" type="pres">
      <dgm:prSet presAssocID="{B3AFCA67-B060-473B-B46E-BFD11D8751AA}" presName="vert1" presStyleCnt="0"/>
      <dgm:spPr/>
    </dgm:pt>
  </dgm:ptLst>
  <dgm:cxnLst>
    <dgm:cxn modelId="{159E8C24-8619-4416-9AA0-929C5356EF80}" type="presOf" srcId="{A08F0411-2163-4E01-9C24-F47F6BA82C87}" destId="{1C144624-3AE3-4EAE-9DA5-96EF81AC89D9}" srcOrd="0" destOrd="0" presId="urn:microsoft.com/office/officeart/2008/layout/LinedList"/>
    <dgm:cxn modelId="{FE2E362B-4943-4A27-8156-D7444B329A23}" srcId="{C8AE3DA3-497D-4DA9-AAB5-296E88F6FC80}" destId="{A08F0411-2163-4E01-9C24-F47F6BA82C87}" srcOrd="1" destOrd="0" parTransId="{49860F08-C5EC-4DA9-8E78-974A6EE67E6E}" sibTransId="{C094967C-63AF-4E72-A73F-618E69CE2B6C}"/>
    <dgm:cxn modelId="{4605582B-6CEA-4E9C-95FD-592BC6794469}" type="presOf" srcId="{DD04BEFA-2A44-4ED5-9676-C6CC1E847A9F}" destId="{4AECF5A5-C977-4470-8E0A-C39031269FC1}" srcOrd="0" destOrd="0" presId="urn:microsoft.com/office/officeart/2008/layout/LinedList"/>
    <dgm:cxn modelId="{F92C7A5D-4790-4BE1-9E05-AB7405107F8C}" srcId="{C8AE3DA3-497D-4DA9-AAB5-296E88F6FC80}" destId="{B3AFCA67-B060-473B-B46E-BFD11D8751AA}" srcOrd="3" destOrd="0" parTransId="{3777F912-D411-4D31-8AA4-53F25E1EDB6D}" sibTransId="{92074FCB-C7D2-4F12-AD3D-98EBC0646E1F}"/>
    <dgm:cxn modelId="{71B01D48-39FB-4D1B-9449-8926489F8D0A}" type="presOf" srcId="{B3AFCA67-B060-473B-B46E-BFD11D8751AA}" destId="{71104129-A926-4E7E-AFC3-CC67B6777F9A}" srcOrd="0" destOrd="0" presId="urn:microsoft.com/office/officeart/2008/layout/LinedList"/>
    <dgm:cxn modelId="{F1DC9050-3DEF-4332-81EB-3A0D7E01F8DD}" type="presOf" srcId="{C8AE3DA3-497D-4DA9-AAB5-296E88F6FC80}" destId="{2D3A9216-8A1D-4C7D-82A9-FCD27D4D2C92}" srcOrd="0" destOrd="0" presId="urn:microsoft.com/office/officeart/2008/layout/LinedList"/>
    <dgm:cxn modelId="{5EA22084-E50B-489F-8FE7-6E1D9652C83A}" srcId="{C8AE3DA3-497D-4DA9-AAB5-296E88F6FC80}" destId="{27875BF9-FB71-4ED4-BEEC-CB711C9D850C}" srcOrd="0" destOrd="0" parTransId="{593E949E-E5E6-404E-9D6E-88AFF34FB9A5}" sibTransId="{6779F1DD-30D4-4EFF-ABCB-7AA1C7FCD155}"/>
    <dgm:cxn modelId="{01D9C8D7-1630-4A83-A787-1F89606C7AA6}" type="presOf" srcId="{27875BF9-FB71-4ED4-BEEC-CB711C9D850C}" destId="{22351468-0C5A-424D-9C25-2073BD039C2C}" srcOrd="0" destOrd="0" presId="urn:microsoft.com/office/officeart/2008/layout/LinedList"/>
    <dgm:cxn modelId="{432CBBE7-2FD9-470E-8664-9C8CCD88D235}" srcId="{C8AE3DA3-497D-4DA9-AAB5-296E88F6FC80}" destId="{DD04BEFA-2A44-4ED5-9676-C6CC1E847A9F}" srcOrd="2" destOrd="0" parTransId="{15A9F651-8E9D-4354-9C32-CD36DC8B18A1}" sibTransId="{F93AFC24-02F1-4030-90A2-D5BBD612AFB5}"/>
    <dgm:cxn modelId="{A00B8889-025F-4D60-AB67-E638A79FA3FF}" type="presParOf" srcId="{2D3A9216-8A1D-4C7D-82A9-FCD27D4D2C92}" destId="{272554B0-1D54-4C3B-A9F5-A60A4F24A357}" srcOrd="0" destOrd="0" presId="urn:microsoft.com/office/officeart/2008/layout/LinedList"/>
    <dgm:cxn modelId="{CD82D99E-7C0F-4710-A0F6-C5436C0FD9A4}" type="presParOf" srcId="{2D3A9216-8A1D-4C7D-82A9-FCD27D4D2C92}" destId="{09B9B31D-1AB0-414B-868D-96C9F82A577B}" srcOrd="1" destOrd="0" presId="urn:microsoft.com/office/officeart/2008/layout/LinedList"/>
    <dgm:cxn modelId="{42BCF561-AB52-485D-B72F-69B00637429D}" type="presParOf" srcId="{09B9B31D-1AB0-414B-868D-96C9F82A577B}" destId="{22351468-0C5A-424D-9C25-2073BD039C2C}" srcOrd="0" destOrd="0" presId="urn:microsoft.com/office/officeart/2008/layout/LinedList"/>
    <dgm:cxn modelId="{4676858E-446D-449D-8409-77E5335BEE8D}" type="presParOf" srcId="{09B9B31D-1AB0-414B-868D-96C9F82A577B}" destId="{724E6B24-A52B-421C-9923-B01453614D61}" srcOrd="1" destOrd="0" presId="urn:microsoft.com/office/officeart/2008/layout/LinedList"/>
    <dgm:cxn modelId="{E571A8AB-1EBC-4C9C-9802-2F5B21131E94}" type="presParOf" srcId="{2D3A9216-8A1D-4C7D-82A9-FCD27D4D2C92}" destId="{0054AAE3-B7EA-46E4-BE75-7FFF2E55BF5C}" srcOrd="2" destOrd="0" presId="urn:microsoft.com/office/officeart/2008/layout/LinedList"/>
    <dgm:cxn modelId="{32F1A759-A773-41D9-87A5-8495471F9CC9}" type="presParOf" srcId="{2D3A9216-8A1D-4C7D-82A9-FCD27D4D2C92}" destId="{0C34A4C3-C2C3-4537-B145-A87F493C0AFB}" srcOrd="3" destOrd="0" presId="urn:microsoft.com/office/officeart/2008/layout/LinedList"/>
    <dgm:cxn modelId="{A2EB7C4F-CD3A-41A9-965A-ADAAA2033720}" type="presParOf" srcId="{0C34A4C3-C2C3-4537-B145-A87F493C0AFB}" destId="{1C144624-3AE3-4EAE-9DA5-96EF81AC89D9}" srcOrd="0" destOrd="0" presId="urn:microsoft.com/office/officeart/2008/layout/LinedList"/>
    <dgm:cxn modelId="{2A44F8B4-26D1-41F3-835A-C91F797C9AF1}" type="presParOf" srcId="{0C34A4C3-C2C3-4537-B145-A87F493C0AFB}" destId="{443F2E82-98FE-4924-8657-793E022AD7EC}" srcOrd="1" destOrd="0" presId="urn:microsoft.com/office/officeart/2008/layout/LinedList"/>
    <dgm:cxn modelId="{47C21C75-4B6C-41BB-9484-D22D37B28EB4}" type="presParOf" srcId="{2D3A9216-8A1D-4C7D-82A9-FCD27D4D2C92}" destId="{EBC26FFF-EA70-4CDC-ACAD-274D35F29925}" srcOrd="4" destOrd="0" presId="urn:microsoft.com/office/officeart/2008/layout/LinedList"/>
    <dgm:cxn modelId="{F4079758-F3DB-4C70-9B6B-83908CFC7C5C}" type="presParOf" srcId="{2D3A9216-8A1D-4C7D-82A9-FCD27D4D2C92}" destId="{7CE8BBA4-F32A-46A7-BB2A-775E584C21D5}" srcOrd="5" destOrd="0" presId="urn:microsoft.com/office/officeart/2008/layout/LinedList"/>
    <dgm:cxn modelId="{EE404B1F-5DB8-4023-823D-B15E3279E078}" type="presParOf" srcId="{7CE8BBA4-F32A-46A7-BB2A-775E584C21D5}" destId="{4AECF5A5-C977-4470-8E0A-C39031269FC1}" srcOrd="0" destOrd="0" presId="urn:microsoft.com/office/officeart/2008/layout/LinedList"/>
    <dgm:cxn modelId="{87803801-281A-45C8-A708-E6477CFA9AB3}" type="presParOf" srcId="{7CE8BBA4-F32A-46A7-BB2A-775E584C21D5}" destId="{5EA3918E-941C-4816-A6D7-A0A982C0255C}" srcOrd="1" destOrd="0" presId="urn:microsoft.com/office/officeart/2008/layout/LinedList"/>
    <dgm:cxn modelId="{1FE47114-93D7-497B-BE32-658241978033}" type="presParOf" srcId="{2D3A9216-8A1D-4C7D-82A9-FCD27D4D2C92}" destId="{A77BA669-6257-42EB-8763-4ACEB139F765}" srcOrd="6" destOrd="0" presId="urn:microsoft.com/office/officeart/2008/layout/LinedList"/>
    <dgm:cxn modelId="{7CD5E2B8-015C-49FC-8903-3DD4D68B9671}" type="presParOf" srcId="{2D3A9216-8A1D-4C7D-82A9-FCD27D4D2C92}" destId="{51A82718-9FBF-4E3C-AB1A-ACF08986BE03}" srcOrd="7" destOrd="0" presId="urn:microsoft.com/office/officeart/2008/layout/LinedList"/>
    <dgm:cxn modelId="{090D6D75-8364-469E-B10B-A15B1AE37B38}" type="presParOf" srcId="{51A82718-9FBF-4E3C-AB1A-ACF08986BE03}" destId="{71104129-A926-4E7E-AFC3-CC67B6777F9A}" srcOrd="0" destOrd="0" presId="urn:microsoft.com/office/officeart/2008/layout/LinedList"/>
    <dgm:cxn modelId="{950F3537-1F60-4A55-AC28-FD8810207334}" type="presParOf" srcId="{51A82718-9FBF-4E3C-AB1A-ACF08986BE03}" destId="{F8E747B7-9BDC-4143-AC10-69489E6861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30C324-5823-4619-9546-C013C6386FE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735C785-496E-44DB-9662-454FF857F256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 </a:t>
          </a:r>
          <a:r>
            <a:rPr lang="en-US" b="1" i="0" dirty="0">
              <a:solidFill>
                <a:schemeClr val="bg1"/>
              </a:solidFill>
            </a:rPr>
            <a:t>United States (</a:t>
          </a:r>
          <a:r>
            <a:rPr lang="en-US" b="1" i="0" dirty="0" err="1">
              <a:solidFill>
                <a:schemeClr val="bg1"/>
              </a:solidFill>
            </a:rPr>
            <a:t>Estados</a:t>
          </a:r>
          <a:r>
            <a:rPr lang="en-US" b="1" i="0" dirty="0">
              <a:solidFill>
                <a:schemeClr val="bg1"/>
              </a:solidFill>
            </a:rPr>
            <a:t> Unidos)</a:t>
          </a:r>
          <a:r>
            <a:rPr lang="en-US" b="0" i="0" dirty="0">
              <a:solidFill>
                <a:schemeClr val="bg1"/>
              </a:solidFill>
            </a:rPr>
            <a:t> is the leading country by a wide margin, contributing </a:t>
          </a:r>
          <a:r>
            <a:rPr lang="en-US" b="1" i="0" dirty="0">
              <a:solidFill>
                <a:schemeClr val="bg1"/>
              </a:solidFill>
            </a:rPr>
            <a:t>$4.9M</a:t>
          </a:r>
          <a:r>
            <a:rPr lang="en-US" b="0" i="0" dirty="0">
              <a:solidFill>
                <a:schemeClr val="bg1"/>
              </a:solidFill>
            </a:rPr>
            <a:t> in sales</a:t>
          </a:r>
          <a:endParaRPr lang="en-IN" dirty="0">
            <a:solidFill>
              <a:schemeClr val="bg1"/>
            </a:solidFill>
          </a:endParaRPr>
        </a:p>
      </dgm:t>
    </dgm:pt>
    <dgm:pt modelId="{069B27CB-696E-431A-89E2-4145F280891D}" type="parTrans" cxnId="{F0E97E75-6BC8-4974-8DB0-28FB1770FAE7}">
      <dgm:prSet/>
      <dgm:spPr/>
      <dgm:t>
        <a:bodyPr/>
        <a:lstStyle/>
        <a:p>
          <a:endParaRPr lang="en-IN"/>
        </a:p>
      </dgm:t>
    </dgm:pt>
    <dgm:pt modelId="{A3495091-2978-42D6-9906-DEFE3BD218BE}" type="sibTrans" cxnId="{F0E97E75-6BC8-4974-8DB0-28FB1770FAE7}">
      <dgm:prSet/>
      <dgm:spPr/>
      <dgm:t>
        <a:bodyPr/>
        <a:lstStyle/>
        <a:p>
          <a:endParaRPr lang="en-IN"/>
        </a:p>
      </dgm:t>
    </dgm:pt>
    <dgm:pt modelId="{43BA97E9-B19F-4A04-BC21-02F6D0B7283B}">
      <dgm:prSet/>
      <dgm:spPr/>
      <dgm:t>
        <a:bodyPr/>
        <a:lstStyle/>
        <a:p>
          <a:r>
            <a:rPr lang="en-US" b="1" i="0" dirty="0">
              <a:solidFill>
                <a:schemeClr val="bg1"/>
              </a:solidFill>
            </a:rPr>
            <a:t>Western Europe</a:t>
          </a:r>
          <a:r>
            <a:rPr lang="en-US" b="0" i="0" dirty="0">
              <a:solidFill>
                <a:schemeClr val="bg1"/>
              </a:solidFill>
            </a:rPr>
            <a:t> and </a:t>
          </a:r>
          <a:r>
            <a:rPr lang="en-US" b="1" i="0" dirty="0">
              <a:solidFill>
                <a:schemeClr val="bg1"/>
              </a:solidFill>
            </a:rPr>
            <a:t>Central America</a:t>
          </a:r>
          <a:r>
            <a:rPr lang="en-US" b="0" i="0" dirty="0">
              <a:solidFill>
                <a:schemeClr val="bg1"/>
              </a:solidFill>
            </a:rPr>
            <a:t> are the strongest regions by customer count, hosting </a:t>
          </a:r>
          <a:r>
            <a:rPr lang="en-US" b="1" i="0" dirty="0">
              <a:solidFill>
                <a:schemeClr val="bg1"/>
              </a:solidFill>
            </a:rPr>
            <a:t>7.7K</a:t>
          </a:r>
          <a:r>
            <a:rPr lang="en-US" b="0" i="0" dirty="0">
              <a:solidFill>
                <a:schemeClr val="bg1"/>
              </a:solidFill>
            </a:rPr>
            <a:t> and </a:t>
          </a:r>
          <a:r>
            <a:rPr lang="en-US" b="1" i="0" dirty="0">
              <a:solidFill>
                <a:schemeClr val="bg1"/>
              </a:solidFill>
            </a:rPr>
            <a:t>6.6K</a:t>
          </a:r>
          <a:r>
            <a:rPr lang="en-US" b="0" i="0" dirty="0">
              <a:solidFill>
                <a:schemeClr val="bg1"/>
              </a:solidFill>
            </a:rPr>
            <a:t> customers respectively.</a:t>
          </a:r>
          <a:endParaRPr lang="en-IN" dirty="0">
            <a:solidFill>
              <a:schemeClr val="bg1"/>
            </a:solidFill>
          </a:endParaRPr>
        </a:p>
      </dgm:t>
    </dgm:pt>
    <dgm:pt modelId="{1CAA5F78-8318-476A-9A0B-31ACD8094EA6}" type="parTrans" cxnId="{BDF4261B-96B2-40E2-B8A9-1E583060B25B}">
      <dgm:prSet/>
      <dgm:spPr/>
      <dgm:t>
        <a:bodyPr/>
        <a:lstStyle/>
        <a:p>
          <a:endParaRPr lang="en-IN"/>
        </a:p>
      </dgm:t>
    </dgm:pt>
    <dgm:pt modelId="{7CFCD559-76A2-4DF4-AEC3-9FD7928DBC87}" type="sibTrans" cxnId="{BDF4261B-96B2-40E2-B8A9-1E583060B25B}">
      <dgm:prSet/>
      <dgm:spPr/>
      <dgm:t>
        <a:bodyPr/>
        <a:lstStyle/>
        <a:p>
          <a:endParaRPr lang="en-IN"/>
        </a:p>
      </dgm:t>
    </dgm:pt>
    <dgm:pt modelId="{EB391593-667B-4336-937B-6FD90CF404AD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The </a:t>
          </a:r>
          <a:r>
            <a:rPr lang="en-US" b="1" i="0" dirty="0">
              <a:solidFill>
                <a:schemeClr val="bg1"/>
              </a:solidFill>
            </a:rPr>
            <a:t>Consumer segment</a:t>
          </a:r>
          <a:r>
            <a:rPr lang="en-US" b="0" i="0" dirty="0">
              <a:solidFill>
                <a:schemeClr val="bg1"/>
              </a:solidFill>
            </a:rPr>
            <a:t> not only has the highest total sales (</a:t>
          </a:r>
          <a:r>
            <a:rPr lang="en-US" b="1" i="0" dirty="0">
              <a:solidFill>
                <a:schemeClr val="bg1"/>
              </a:solidFill>
            </a:rPr>
            <a:t>$19.1M</a:t>
          </a:r>
          <a:r>
            <a:rPr lang="en-US" b="0" i="0" dirty="0">
              <a:solidFill>
                <a:schemeClr val="bg1"/>
              </a:solidFill>
            </a:rPr>
            <a:t>) but also the highest average sales per customer (</a:t>
          </a:r>
          <a:r>
            <a:rPr lang="en-US" b="1" i="0" dirty="0">
              <a:solidFill>
                <a:schemeClr val="bg1"/>
              </a:solidFill>
            </a:rPr>
            <a:t>$17.2M</a:t>
          </a:r>
          <a:r>
            <a:rPr lang="en-US" b="0" i="0" dirty="0">
              <a:solidFill>
                <a:schemeClr val="bg1"/>
              </a:solidFill>
            </a:rPr>
            <a:t>)</a:t>
          </a:r>
          <a:endParaRPr lang="en-IN" dirty="0">
            <a:solidFill>
              <a:schemeClr val="bg1"/>
            </a:solidFill>
          </a:endParaRPr>
        </a:p>
      </dgm:t>
    </dgm:pt>
    <dgm:pt modelId="{2CB10719-781E-4D1B-974F-122B50D00EB5}" type="parTrans" cxnId="{CE4C1600-FEDD-414B-8D15-D73D1BE68575}">
      <dgm:prSet/>
      <dgm:spPr/>
      <dgm:t>
        <a:bodyPr/>
        <a:lstStyle/>
        <a:p>
          <a:endParaRPr lang="en-IN"/>
        </a:p>
      </dgm:t>
    </dgm:pt>
    <dgm:pt modelId="{1961B5BC-81DB-4E11-8FFC-8984B64F7D7E}" type="sibTrans" cxnId="{CE4C1600-FEDD-414B-8D15-D73D1BE68575}">
      <dgm:prSet/>
      <dgm:spPr/>
      <dgm:t>
        <a:bodyPr/>
        <a:lstStyle/>
        <a:p>
          <a:endParaRPr lang="en-IN"/>
        </a:p>
      </dgm:t>
    </dgm:pt>
    <dgm:pt modelId="{58E1FA48-CE35-42E6-8D9C-1E2FAC0DA856}" type="pres">
      <dgm:prSet presAssocID="{B330C324-5823-4619-9546-C013C6386FE9}" presName="vert0" presStyleCnt="0">
        <dgm:presLayoutVars>
          <dgm:dir/>
          <dgm:animOne val="branch"/>
          <dgm:animLvl val="lvl"/>
        </dgm:presLayoutVars>
      </dgm:prSet>
      <dgm:spPr/>
    </dgm:pt>
    <dgm:pt modelId="{3AADCF47-3989-4976-992A-17B752BB097B}" type="pres">
      <dgm:prSet presAssocID="{9735C785-496E-44DB-9662-454FF857F256}" presName="thickLine" presStyleLbl="alignNode1" presStyleIdx="0" presStyleCnt="3"/>
      <dgm:spPr/>
    </dgm:pt>
    <dgm:pt modelId="{CB15A316-1203-43E5-A84A-B51EB85FF4CB}" type="pres">
      <dgm:prSet presAssocID="{9735C785-496E-44DB-9662-454FF857F256}" presName="horz1" presStyleCnt="0"/>
      <dgm:spPr/>
    </dgm:pt>
    <dgm:pt modelId="{155E278E-0D78-43DC-9C4E-DAD6BBE7725E}" type="pres">
      <dgm:prSet presAssocID="{9735C785-496E-44DB-9662-454FF857F256}" presName="tx1" presStyleLbl="revTx" presStyleIdx="0" presStyleCnt="3"/>
      <dgm:spPr/>
    </dgm:pt>
    <dgm:pt modelId="{6B07125E-73EC-4B11-A9E4-EAEFCBDE47BC}" type="pres">
      <dgm:prSet presAssocID="{9735C785-496E-44DB-9662-454FF857F256}" presName="vert1" presStyleCnt="0"/>
      <dgm:spPr/>
    </dgm:pt>
    <dgm:pt modelId="{8B6AA167-7FE8-4559-8B6D-2CE8E44367F9}" type="pres">
      <dgm:prSet presAssocID="{43BA97E9-B19F-4A04-BC21-02F6D0B7283B}" presName="thickLine" presStyleLbl="alignNode1" presStyleIdx="1" presStyleCnt="3"/>
      <dgm:spPr/>
    </dgm:pt>
    <dgm:pt modelId="{603BEF7F-5F9D-4EB0-8FE1-248E20944FBE}" type="pres">
      <dgm:prSet presAssocID="{43BA97E9-B19F-4A04-BC21-02F6D0B7283B}" presName="horz1" presStyleCnt="0"/>
      <dgm:spPr/>
    </dgm:pt>
    <dgm:pt modelId="{3EBED0ED-E161-491B-AF9B-E89698B88884}" type="pres">
      <dgm:prSet presAssocID="{43BA97E9-B19F-4A04-BC21-02F6D0B7283B}" presName="tx1" presStyleLbl="revTx" presStyleIdx="1" presStyleCnt="3"/>
      <dgm:spPr/>
    </dgm:pt>
    <dgm:pt modelId="{5472AC1A-3698-4F3B-8DD4-2E70C41D4275}" type="pres">
      <dgm:prSet presAssocID="{43BA97E9-B19F-4A04-BC21-02F6D0B7283B}" presName="vert1" presStyleCnt="0"/>
      <dgm:spPr/>
    </dgm:pt>
    <dgm:pt modelId="{78C930A3-9AAD-4EBF-9630-0460B888E0DA}" type="pres">
      <dgm:prSet presAssocID="{EB391593-667B-4336-937B-6FD90CF404AD}" presName="thickLine" presStyleLbl="alignNode1" presStyleIdx="2" presStyleCnt="3"/>
      <dgm:spPr/>
    </dgm:pt>
    <dgm:pt modelId="{CA5C7BF9-1266-4F3A-9766-D04D5CE366E6}" type="pres">
      <dgm:prSet presAssocID="{EB391593-667B-4336-937B-6FD90CF404AD}" presName="horz1" presStyleCnt="0"/>
      <dgm:spPr/>
    </dgm:pt>
    <dgm:pt modelId="{F6547822-905B-4DE5-9BBF-864840104004}" type="pres">
      <dgm:prSet presAssocID="{EB391593-667B-4336-937B-6FD90CF404AD}" presName="tx1" presStyleLbl="revTx" presStyleIdx="2" presStyleCnt="3"/>
      <dgm:spPr/>
    </dgm:pt>
    <dgm:pt modelId="{41908A0C-3EA9-4576-8FD3-BE33FCE1641A}" type="pres">
      <dgm:prSet presAssocID="{EB391593-667B-4336-937B-6FD90CF404AD}" presName="vert1" presStyleCnt="0"/>
      <dgm:spPr/>
    </dgm:pt>
  </dgm:ptLst>
  <dgm:cxnLst>
    <dgm:cxn modelId="{CE4C1600-FEDD-414B-8D15-D73D1BE68575}" srcId="{B330C324-5823-4619-9546-C013C6386FE9}" destId="{EB391593-667B-4336-937B-6FD90CF404AD}" srcOrd="2" destOrd="0" parTransId="{2CB10719-781E-4D1B-974F-122B50D00EB5}" sibTransId="{1961B5BC-81DB-4E11-8FFC-8984B64F7D7E}"/>
    <dgm:cxn modelId="{B53F2206-961A-4C54-8CA7-44973DF296BB}" type="presOf" srcId="{9735C785-496E-44DB-9662-454FF857F256}" destId="{155E278E-0D78-43DC-9C4E-DAD6BBE7725E}" srcOrd="0" destOrd="0" presId="urn:microsoft.com/office/officeart/2008/layout/LinedList"/>
    <dgm:cxn modelId="{BDF4261B-96B2-40E2-B8A9-1E583060B25B}" srcId="{B330C324-5823-4619-9546-C013C6386FE9}" destId="{43BA97E9-B19F-4A04-BC21-02F6D0B7283B}" srcOrd="1" destOrd="0" parTransId="{1CAA5F78-8318-476A-9A0B-31ACD8094EA6}" sibTransId="{7CFCD559-76A2-4DF4-AEC3-9FD7928DBC87}"/>
    <dgm:cxn modelId="{F0E97E75-6BC8-4974-8DB0-28FB1770FAE7}" srcId="{B330C324-5823-4619-9546-C013C6386FE9}" destId="{9735C785-496E-44DB-9662-454FF857F256}" srcOrd="0" destOrd="0" parTransId="{069B27CB-696E-431A-89E2-4145F280891D}" sibTransId="{A3495091-2978-42D6-9906-DEFE3BD218BE}"/>
    <dgm:cxn modelId="{6BB2938C-1B71-4AA9-9D3B-694E075547DA}" type="presOf" srcId="{43BA97E9-B19F-4A04-BC21-02F6D0B7283B}" destId="{3EBED0ED-E161-491B-AF9B-E89698B88884}" srcOrd="0" destOrd="0" presId="urn:microsoft.com/office/officeart/2008/layout/LinedList"/>
    <dgm:cxn modelId="{1C777DC0-1A9C-498C-B1EE-AE1C592716AC}" type="presOf" srcId="{EB391593-667B-4336-937B-6FD90CF404AD}" destId="{F6547822-905B-4DE5-9BBF-864840104004}" srcOrd="0" destOrd="0" presId="urn:microsoft.com/office/officeart/2008/layout/LinedList"/>
    <dgm:cxn modelId="{34B42CFC-9255-4FE9-8B56-0D2B50929583}" type="presOf" srcId="{B330C324-5823-4619-9546-C013C6386FE9}" destId="{58E1FA48-CE35-42E6-8D9C-1E2FAC0DA856}" srcOrd="0" destOrd="0" presId="urn:microsoft.com/office/officeart/2008/layout/LinedList"/>
    <dgm:cxn modelId="{730EB4B9-2450-4FD9-BC35-64DCCD7C322A}" type="presParOf" srcId="{58E1FA48-CE35-42E6-8D9C-1E2FAC0DA856}" destId="{3AADCF47-3989-4976-992A-17B752BB097B}" srcOrd="0" destOrd="0" presId="urn:microsoft.com/office/officeart/2008/layout/LinedList"/>
    <dgm:cxn modelId="{E7444B61-57BF-4CA1-A740-1BE07B236A81}" type="presParOf" srcId="{58E1FA48-CE35-42E6-8D9C-1E2FAC0DA856}" destId="{CB15A316-1203-43E5-A84A-B51EB85FF4CB}" srcOrd="1" destOrd="0" presId="urn:microsoft.com/office/officeart/2008/layout/LinedList"/>
    <dgm:cxn modelId="{ED41B2B0-45E0-4BAB-A20C-2D32678612EA}" type="presParOf" srcId="{CB15A316-1203-43E5-A84A-B51EB85FF4CB}" destId="{155E278E-0D78-43DC-9C4E-DAD6BBE7725E}" srcOrd="0" destOrd="0" presId="urn:microsoft.com/office/officeart/2008/layout/LinedList"/>
    <dgm:cxn modelId="{C4E3C711-BA79-410E-AF3B-128A079207B5}" type="presParOf" srcId="{CB15A316-1203-43E5-A84A-B51EB85FF4CB}" destId="{6B07125E-73EC-4B11-A9E4-EAEFCBDE47BC}" srcOrd="1" destOrd="0" presId="urn:microsoft.com/office/officeart/2008/layout/LinedList"/>
    <dgm:cxn modelId="{D4D79FD8-2751-4D2A-A4DB-AB72F76D4669}" type="presParOf" srcId="{58E1FA48-CE35-42E6-8D9C-1E2FAC0DA856}" destId="{8B6AA167-7FE8-4559-8B6D-2CE8E44367F9}" srcOrd="2" destOrd="0" presId="urn:microsoft.com/office/officeart/2008/layout/LinedList"/>
    <dgm:cxn modelId="{F472D1C6-54B0-477B-8DC9-B89B42D7A657}" type="presParOf" srcId="{58E1FA48-CE35-42E6-8D9C-1E2FAC0DA856}" destId="{603BEF7F-5F9D-4EB0-8FE1-248E20944FBE}" srcOrd="3" destOrd="0" presId="urn:microsoft.com/office/officeart/2008/layout/LinedList"/>
    <dgm:cxn modelId="{CA79DCE4-CFC1-4D2F-8513-E60FB4C434CB}" type="presParOf" srcId="{603BEF7F-5F9D-4EB0-8FE1-248E20944FBE}" destId="{3EBED0ED-E161-491B-AF9B-E89698B88884}" srcOrd="0" destOrd="0" presId="urn:microsoft.com/office/officeart/2008/layout/LinedList"/>
    <dgm:cxn modelId="{5CBDBF05-9918-451C-9810-074B86BB03FA}" type="presParOf" srcId="{603BEF7F-5F9D-4EB0-8FE1-248E20944FBE}" destId="{5472AC1A-3698-4F3B-8DD4-2E70C41D4275}" srcOrd="1" destOrd="0" presId="urn:microsoft.com/office/officeart/2008/layout/LinedList"/>
    <dgm:cxn modelId="{D9730E2D-8DEB-433D-90BE-4499985881BA}" type="presParOf" srcId="{58E1FA48-CE35-42E6-8D9C-1E2FAC0DA856}" destId="{78C930A3-9AAD-4EBF-9630-0460B888E0DA}" srcOrd="4" destOrd="0" presId="urn:microsoft.com/office/officeart/2008/layout/LinedList"/>
    <dgm:cxn modelId="{496AF5DD-FFC9-4A4C-9EEB-372E7ACE27E6}" type="presParOf" srcId="{58E1FA48-CE35-42E6-8D9C-1E2FAC0DA856}" destId="{CA5C7BF9-1266-4F3A-9766-D04D5CE366E6}" srcOrd="5" destOrd="0" presId="urn:microsoft.com/office/officeart/2008/layout/LinedList"/>
    <dgm:cxn modelId="{076E9243-77EE-451B-A019-974CF80F3AA6}" type="presParOf" srcId="{CA5C7BF9-1266-4F3A-9766-D04D5CE366E6}" destId="{F6547822-905B-4DE5-9BBF-864840104004}" srcOrd="0" destOrd="0" presId="urn:microsoft.com/office/officeart/2008/layout/LinedList"/>
    <dgm:cxn modelId="{C1300F16-0744-4DEC-8E7C-D5C0F1431ECC}" type="presParOf" srcId="{CA5C7BF9-1266-4F3A-9766-D04D5CE366E6}" destId="{41908A0C-3EA9-4576-8FD3-BE33FCE1641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92758-2309-482C-9A45-438C56B62FF9}">
      <dsp:nvSpPr>
        <dsp:cNvPr id="0" name=""/>
        <dsp:cNvSpPr/>
      </dsp:nvSpPr>
      <dsp:spPr>
        <a:xfrm>
          <a:off x="0" y="0"/>
          <a:ext cx="62669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0CB6A-69A2-4D83-9F27-D45A74E065AA}">
      <dsp:nvSpPr>
        <dsp:cNvPr id="0" name=""/>
        <dsp:cNvSpPr/>
      </dsp:nvSpPr>
      <dsp:spPr>
        <a:xfrm>
          <a:off x="0" y="0"/>
          <a:ext cx="6266984" cy="692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1"/>
              </a:solidFill>
            </a:rPr>
            <a:t>Sales remained relatively stable from 2015 to 2017 but dropped significantly in 2018, indicating a potential decline in demand or operational issues.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0" y="0"/>
        <a:ext cx="6266984" cy="692497"/>
      </dsp:txXfrm>
    </dsp:sp>
    <dsp:sp modelId="{32EB3CEE-BB8C-433F-8F30-AC59CEADA97F}">
      <dsp:nvSpPr>
        <dsp:cNvPr id="0" name=""/>
        <dsp:cNvSpPr/>
      </dsp:nvSpPr>
      <dsp:spPr>
        <a:xfrm>
          <a:off x="0" y="692497"/>
          <a:ext cx="62669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D51E3-A912-4F51-ADE1-42AF1F7B7D0B}">
      <dsp:nvSpPr>
        <dsp:cNvPr id="0" name=""/>
        <dsp:cNvSpPr/>
      </dsp:nvSpPr>
      <dsp:spPr>
        <a:xfrm>
          <a:off x="0" y="692497"/>
          <a:ext cx="6266984" cy="692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1"/>
              </a:solidFill>
            </a:rPr>
            <a:t>The Consumer Segment contributes the highest number of orders, making it the key customer group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0" y="692497"/>
        <a:ext cx="6266984" cy="6924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7FB36-83EB-4345-AB1F-237CF1D3381F}">
      <dsp:nvSpPr>
        <dsp:cNvPr id="0" name=""/>
        <dsp:cNvSpPr/>
      </dsp:nvSpPr>
      <dsp:spPr>
        <a:xfrm>
          <a:off x="0" y="781"/>
          <a:ext cx="79694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9C60B-F6A7-4B11-9D04-08597ED14F6A}">
      <dsp:nvSpPr>
        <dsp:cNvPr id="0" name=""/>
        <dsp:cNvSpPr/>
      </dsp:nvSpPr>
      <dsp:spPr>
        <a:xfrm>
          <a:off x="0" y="781"/>
          <a:ext cx="7969405" cy="53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solidFill>
                <a:schemeClr val="bg1"/>
              </a:solidFill>
            </a:rPr>
            <a:t>Standard Class shipping has the highest number of late deliveries</a:t>
          </a:r>
          <a:r>
            <a:rPr lang="en-US" sz="1500" b="0" i="0" kern="1200" dirty="0">
              <a:solidFill>
                <a:schemeClr val="bg1"/>
              </a:solidFill>
            </a:rPr>
            <a:t>, making it the biggest contributor to delays</a:t>
          </a:r>
          <a:endParaRPr lang="en-IN" sz="1500" kern="1200" dirty="0">
            <a:solidFill>
              <a:schemeClr val="bg1"/>
            </a:solidFill>
          </a:endParaRPr>
        </a:p>
      </dsp:txBody>
      <dsp:txXfrm>
        <a:off x="0" y="781"/>
        <a:ext cx="7969405" cy="532958"/>
      </dsp:txXfrm>
    </dsp:sp>
    <dsp:sp modelId="{68C5E505-BAA4-4647-B8EA-3DA8EE27C95E}">
      <dsp:nvSpPr>
        <dsp:cNvPr id="0" name=""/>
        <dsp:cNvSpPr/>
      </dsp:nvSpPr>
      <dsp:spPr>
        <a:xfrm>
          <a:off x="0" y="533739"/>
          <a:ext cx="79694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22596-9612-49CF-980D-B821DCEC5347}">
      <dsp:nvSpPr>
        <dsp:cNvPr id="0" name=""/>
        <dsp:cNvSpPr/>
      </dsp:nvSpPr>
      <dsp:spPr>
        <a:xfrm>
          <a:off x="0" y="533739"/>
          <a:ext cx="7969405" cy="53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solidFill>
                <a:schemeClr val="bg1"/>
              </a:solidFill>
            </a:rPr>
            <a:t>There is a clear gap between </a:t>
          </a:r>
          <a:r>
            <a:rPr lang="en-US" sz="1500" b="1" i="0" kern="1200" dirty="0">
              <a:solidFill>
                <a:schemeClr val="bg1"/>
              </a:solidFill>
            </a:rPr>
            <a:t>scheduled and actual delivery time</a:t>
          </a:r>
          <a:r>
            <a:rPr lang="en-US" sz="1500" b="0" i="0" kern="1200" dirty="0">
              <a:solidFill>
                <a:schemeClr val="bg1"/>
              </a:solidFill>
            </a:rPr>
            <a:t>, especially in Standard and Second Class shipping.</a:t>
          </a:r>
          <a:endParaRPr lang="en-IN" sz="1500" kern="1200" dirty="0">
            <a:solidFill>
              <a:schemeClr val="bg1"/>
            </a:solidFill>
          </a:endParaRPr>
        </a:p>
      </dsp:txBody>
      <dsp:txXfrm>
        <a:off x="0" y="533739"/>
        <a:ext cx="7969405" cy="532958"/>
      </dsp:txXfrm>
    </dsp:sp>
    <dsp:sp modelId="{C82D858A-39C8-4440-8AF6-02F7317E1AF0}">
      <dsp:nvSpPr>
        <dsp:cNvPr id="0" name=""/>
        <dsp:cNvSpPr/>
      </dsp:nvSpPr>
      <dsp:spPr>
        <a:xfrm>
          <a:off x="0" y="1066698"/>
          <a:ext cx="79694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1C353-4F28-4ABA-BD0F-E9AFFB21ADEE}">
      <dsp:nvSpPr>
        <dsp:cNvPr id="0" name=""/>
        <dsp:cNvSpPr/>
      </dsp:nvSpPr>
      <dsp:spPr>
        <a:xfrm>
          <a:off x="0" y="1066698"/>
          <a:ext cx="7969405" cy="53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solidFill>
                <a:schemeClr val="bg1"/>
              </a:solidFill>
            </a:rPr>
            <a:t>Late delivery percentage has </a:t>
          </a:r>
          <a:r>
            <a:rPr lang="en-US" sz="1500" b="1" i="0" kern="1200" dirty="0">
              <a:solidFill>
                <a:schemeClr val="bg1"/>
              </a:solidFill>
            </a:rPr>
            <a:t>increased in 2018</a:t>
          </a:r>
          <a:r>
            <a:rPr lang="en-US" sz="1500" b="0" i="0" kern="1200" dirty="0">
              <a:solidFill>
                <a:schemeClr val="bg1"/>
              </a:solidFill>
            </a:rPr>
            <a:t>, indicating worsening logistics performance.</a:t>
          </a:r>
          <a:endParaRPr lang="en-IN" sz="1500" kern="1200" dirty="0">
            <a:solidFill>
              <a:schemeClr val="bg1"/>
            </a:solidFill>
          </a:endParaRPr>
        </a:p>
      </dsp:txBody>
      <dsp:txXfrm>
        <a:off x="0" y="1066698"/>
        <a:ext cx="7969405" cy="5329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554B0-1D54-4C3B-A9F5-A60A4F24A357}">
      <dsp:nvSpPr>
        <dsp:cNvPr id="0" name=""/>
        <dsp:cNvSpPr/>
      </dsp:nvSpPr>
      <dsp:spPr>
        <a:xfrm>
          <a:off x="0" y="0"/>
          <a:ext cx="65866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51468-0C5A-424D-9C25-2073BD039C2C}">
      <dsp:nvSpPr>
        <dsp:cNvPr id="0" name=""/>
        <dsp:cNvSpPr/>
      </dsp:nvSpPr>
      <dsp:spPr>
        <a:xfrm>
          <a:off x="0" y="0"/>
          <a:ext cx="6586653" cy="43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</a:rPr>
            <a:t>A small number of products and categories contribute to the majority of sales, showing a </a:t>
          </a:r>
          <a:r>
            <a:rPr lang="en-US" sz="1200" b="1" i="0" kern="1200" dirty="0">
              <a:solidFill>
                <a:schemeClr val="bg1"/>
              </a:solidFill>
            </a:rPr>
            <a:t>concentration of revenue in top-performing items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0" y="0"/>
        <a:ext cx="6586653" cy="430115"/>
      </dsp:txXfrm>
    </dsp:sp>
    <dsp:sp modelId="{0054AAE3-B7EA-46E4-BE75-7FFF2E55BF5C}">
      <dsp:nvSpPr>
        <dsp:cNvPr id="0" name=""/>
        <dsp:cNvSpPr/>
      </dsp:nvSpPr>
      <dsp:spPr>
        <a:xfrm>
          <a:off x="0" y="430115"/>
          <a:ext cx="65866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44624-3AE3-4EAE-9DA5-96EF81AC89D9}">
      <dsp:nvSpPr>
        <dsp:cNvPr id="0" name=""/>
        <dsp:cNvSpPr/>
      </dsp:nvSpPr>
      <dsp:spPr>
        <a:xfrm>
          <a:off x="0" y="430115"/>
          <a:ext cx="6586653" cy="43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</a:rPr>
            <a:t>The </a:t>
          </a:r>
          <a:r>
            <a:rPr lang="en-US" sz="1200" b="1" i="0" kern="1200" dirty="0">
              <a:solidFill>
                <a:schemeClr val="bg1"/>
              </a:solidFill>
            </a:rPr>
            <a:t>Fishing and Cleats categories generate the highest sales</a:t>
          </a:r>
          <a:r>
            <a:rPr lang="en-US" sz="1200" b="0" i="0" kern="1200" dirty="0">
              <a:solidFill>
                <a:schemeClr val="bg1"/>
              </a:solidFill>
            </a:rPr>
            <a:t>, making them key revenue drivers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0" y="430115"/>
        <a:ext cx="6586653" cy="430115"/>
      </dsp:txXfrm>
    </dsp:sp>
    <dsp:sp modelId="{EBC26FFF-EA70-4CDC-ACAD-274D35F29925}">
      <dsp:nvSpPr>
        <dsp:cNvPr id="0" name=""/>
        <dsp:cNvSpPr/>
      </dsp:nvSpPr>
      <dsp:spPr>
        <a:xfrm>
          <a:off x="0" y="860230"/>
          <a:ext cx="65866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CF5A5-C977-4470-8E0A-C39031269FC1}">
      <dsp:nvSpPr>
        <dsp:cNvPr id="0" name=""/>
        <dsp:cNvSpPr/>
      </dsp:nvSpPr>
      <dsp:spPr>
        <a:xfrm>
          <a:off x="0" y="860231"/>
          <a:ext cx="6586653" cy="43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</a:rPr>
            <a:t>There is a </a:t>
          </a:r>
          <a:r>
            <a:rPr lang="en-US" sz="1200" b="1" i="0" kern="1200" dirty="0">
              <a:solidFill>
                <a:schemeClr val="bg1"/>
              </a:solidFill>
            </a:rPr>
            <a:t>negative relationship between discount and profit</a:t>
          </a:r>
          <a:r>
            <a:rPr lang="en-US" sz="1200" b="0" i="0" kern="1200" dirty="0">
              <a:solidFill>
                <a:schemeClr val="bg1"/>
              </a:solidFill>
            </a:rPr>
            <a:t>, where higher discounts lead to lower profit per order</a:t>
          </a:r>
          <a:r>
            <a:rPr lang="en-US" sz="1200" b="0" i="0" kern="1200" dirty="0"/>
            <a:t>.</a:t>
          </a:r>
          <a:endParaRPr lang="en-IN" sz="1200" kern="1200" dirty="0"/>
        </a:p>
      </dsp:txBody>
      <dsp:txXfrm>
        <a:off x="0" y="860231"/>
        <a:ext cx="6586653" cy="430115"/>
      </dsp:txXfrm>
    </dsp:sp>
    <dsp:sp modelId="{A77BA669-6257-42EB-8763-4ACEB139F765}">
      <dsp:nvSpPr>
        <dsp:cNvPr id="0" name=""/>
        <dsp:cNvSpPr/>
      </dsp:nvSpPr>
      <dsp:spPr>
        <a:xfrm>
          <a:off x="0" y="1290346"/>
          <a:ext cx="65866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04129-A926-4E7E-AFC3-CC67B6777F9A}">
      <dsp:nvSpPr>
        <dsp:cNvPr id="0" name=""/>
        <dsp:cNvSpPr/>
      </dsp:nvSpPr>
      <dsp:spPr>
        <a:xfrm>
          <a:off x="0" y="1290346"/>
          <a:ext cx="6586653" cy="43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</a:rPr>
            <a:t>This suggests that aggressive discounting strategies are </a:t>
          </a:r>
          <a:r>
            <a:rPr lang="en-US" sz="1200" b="1" i="0" kern="1200" dirty="0">
              <a:solidFill>
                <a:schemeClr val="bg1"/>
              </a:solidFill>
            </a:rPr>
            <a:t>reducing profitability</a:t>
          </a:r>
          <a:r>
            <a:rPr lang="en-US" sz="1200" b="0" i="0" kern="1200" dirty="0"/>
            <a:t>.</a:t>
          </a:r>
          <a:endParaRPr lang="en-IN" sz="1200" kern="1200" dirty="0"/>
        </a:p>
      </dsp:txBody>
      <dsp:txXfrm>
        <a:off x="0" y="1290346"/>
        <a:ext cx="6586653" cy="4301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DCF47-3989-4976-992A-17B752BB097B}">
      <dsp:nvSpPr>
        <dsp:cNvPr id="0" name=""/>
        <dsp:cNvSpPr/>
      </dsp:nvSpPr>
      <dsp:spPr>
        <a:xfrm>
          <a:off x="0" y="886"/>
          <a:ext cx="784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E278E-0D78-43DC-9C4E-DAD6BBE7725E}">
      <dsp:nvSpPr>
        <dsp:cNvPr id="0" name=""/>
        <dsp:cNvSpPr/>
      </dsp:nvSpPr>
      <dsp:spPr>
        <a:xfrm>
          <a:off x="0" y="886"/>
          <a:ext cx="7843024" cy="60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solidFill>
                <a:schemeClr val="bg1"/>
              </a:solidFill>
            </a:rPr>
            <a:t>The </a:t>
          </a:r>
          <a:r>
            <a:rPr lang="en-US" sz="1700" b="1" i="0" kern="1200" dirty="0">
              <a:solidFill>
                <a:schemeClr val="bg1"/>
              </a:solidFill>
            </a:rPr>
            <a:t>United States (</a:t>
          </a:r>
          <a:r>
            <a:rPr lang="en-US" sz="1700" b="1" i="0" kern="1200" dirty="0" err="1">
              <a:solidFill>
                <a:schemeClr val="bg1"/>
              </a:solidFill>
            </a:rPr>
            <a:t>Estados</a:t>
          </a:r>
          <a:r>
            <a:rPr lang="en-US" sz="1700" b="1" i="0" kern="1200" dirty="0">
              <a:solidFill>
                <a:schemeClr val="bg1"/>
              </a:solidFill>
            </a:rPr>
            <a:t> Unidos)</a:t>
          </a:r>
          <a:r>
            <a:rPr lang="en-US" sz="1700" b="0" i="0" kern="1200" dirty="0">
              <a:solidFill>
                <a:schemeClr val="bg1"/>
              </a:solidFill>
            </a:rPr>
            <a:t> is the leading country by a wide margin, contributing </a:t>
          </a:r>
          <a:r>
            <a:rPr lang="en-US" sz="1700" b="1" i="0" kern="1200" dirty="0">
              <a:solidFill>
                <a:schemeClr val="bg1"/>
              </a:solidFill>
            </a:rPr>
            <a:t>$4.9M</a:t>
          </a:r>
          <a:r>
            <a:rPr lang="en-US" sz="1700" b="0" i="0" kern="1200" dirty="0">
              <a:solidFill>
                <a:schemeClr val="bg1"/>
              </a:solidFill>
            </a:rPr>
            <a:t> in sales</a:t>
          </a:r>
          <a:endParaRPr lang="en-IN" sz="1700" kern="1200" dirty="0">
            <a:solidFill>
              <a:schemeClr val="bg1"/>
            </a:solidFill>
          </a:endParaRPr>
        </a:p>
      </dsp:txBody>
      <dsp:txXfrm>
        <a:off x="0" y="886"/>
        <a:ext cx="7843024" cy="604702"/>
      </dsp:txXfrm>
    </dsp:sp>
    <dsp:sp modelId="{8B6AA167-7FE8-4559-8B6D-2CE8E44367F9}">
      <dsp:nvSpPr>
        <dsp:cNvPr id="0" name=""/>
        <dsp:cNvSpPr/>
      </dsp:nvSpPr>
      <dsp:spPr>
        <a:xfrm>
          <a:off x="0" y="605589"/>
          <a:ext cx="784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ED0ED-E161-491B-AF9B-E89698B88884}">
      <dsp:nvSpPr>
        <dsp:cNvPr id="0" name=""/>
        <dsp:cNvSpPr/>
      </dsp:nvSpPr>
      <dsp:spPr>
        <a:xfrm>
          <a:off x="0" y="605589"/>
          <a:ext cx="7843024" cy="60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chemeClr val="bg1"/>
              </a:solidFill>
            </a:rPr>
            <a:t>Western Europe</a:t>
          </a:r>
          <a:r>
            <a:rPr lang="en-US" sz="1700" b="0" i="0" kern="1200" dirty="0">
              <a:solidFill>
                <a:schemeClr val="bg1"/>
              </a:solidFill>
            </a:rPr>
            <a:t> and </a:t>
          </a:r>
          <a:r>
            <a:rPr lang="en-US" sz="1700" b="1" i="0" kern="1200" dirty="0">
              <a:solidFill>
                <a:schemeClr val="bg1"/>
              </a:solidFill>
            </a:rPr>
            <a:t>Central America</a:t>
          </a:r>
          <a:r>
            <a:rPr lang="en-US" sz="1700" b="0" i="0" kern="1200" dirty="0">
              <a:solidFill>
                <a:schemeClr val="bg1"/>
              </a:solidFill>
            </a:rPr>
            <a:t> are the strongest regions by customer count, hosting </a:t>
          </a:r>
          <a:r>
            <a:rPr lang="en-US" sz="1700" b="1" i="0" kern="1200" dirty="0">
              <a:solidFill>
                <a:schemeClr val="bg1"/>
              </a:solidFill>
            </a:rPr>
            <a:t>7.7K</a:t>
          </a:r>
          <a:r>
            <a:rPr lang="en-US" sz="1700" b="0" i="0" kern="1200" dirty="0">
              <a:solidFill>
                <a:schemeClr val="bg1"/>
              </a:solidFill>
            </a:rPr>
            <a:t> and </a:t>
          </a:r>
          <a:r>
            <a:rPr lang="en-US" sz="1700" b="1" i="0" kern="1200" dirty="0">
              <a:solidFill>
                <a:schemeClr val="bg1"/>
              </a:solidFill>
            </a:rPr>
            <a:t>6.6K</a:t>
          </a:r>
          <a:r>
            <a:rPr lang="en-US" sz="1700" b="0" i="0" kern="1200" dirty="0">
              <a:solidFill>
                <a:schemeClr val="bg1"/>
              </a:solidFill>
            </a:rPr>
            <a:t> customers respectively.</a:t>
          </a:r>
          <a:endParaRPr lang="en-IN" sz="1700" kern="1200" dirty="0">
            <a:solidFill>
              <a:schemeClr val="bg1"/>
            </a:solidFill>
          </a:endParaRPr>
        </a:p>
      </dsp:txBody>
      <dsp:txXfrm>
        <a:off x="0" y="605589"/>
        <a:ext cx="7843024" cy="604702"/>
      </dsp:txXfrm>
    </dsp:sp>
    <dsp:sp modelId="{78C930A3-9AAD-4EBF-9630-0460B888E0DA}">
      <dsp:nvSpPr>
        <dsp:cNvPr id="0" name=""/>
        <dsp:cNvSpPr/>
      </dsp:nvSpPr>
      <dsp:spPr>
        <a:xfrm>
          <a:off x="0" y="1210292"/>
          <a:ext cx="784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47822-905B-4DE5-9BBF-864840104004}">
      <dsp:nvSpPr>
        <dsp:cNvPr id="0" name=""/>
        <dsp:cNvSpPr/>
      </dsp:nvSpPr>
      <dsp:spPr>
        <a:xfrm>
          <a:off x="0" y="1210292"/>
          <a:ext cx="7843024" cy="60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solidFill>
                <a:schemeClr val="bg1"/>
              </a:solidFill>
            </a:rPr>
            <a:t>The </a:t>
          </a:r>
          <a:r>
            <a:rPr lang="en-US" sz="1700" b="1" i="0" kern="1200" dirty="0">
              <a:solidFill>
                <a:schemeClr val="bg1"/>
              </a:solidFill>
            </a:rPr>
            <a:t>Consumer segment</a:t>
          </a:r>
          <a:r>
            <a:rPr lang="en-US" sz="1700" b="0" i="0" kern="1200" dirty="0">
              <a:solidFill>
                <a:schemeClr val="bg1"/>
              </a:solidFill>
            </a:rPr>
            <a:t> not only has the highest total sales (</a:t>
          </a:r>
          <a:r>
            <a:rPr lang="en-US" sz="1700" b="1" i="0" kern="1200" dirty="0">
              <a:solidFill>
                <a:schemeClr val="bg1"/>
              </a:solidFill>
            </a:rPr>
            <a:t>$19.1M</a:t>
          </a:r>
          <a:r>
            <a:rPr lang="en-US" sz="1700" b="0" i="0" kern="1200" dirty="0">
              <a:solidFill>
                <a:schemeClr val="bg1"/>
              </a:solidFill>
            </a:rPr>
            <a:t>) but also the highest average sales per customer (</a:t>
          </a:r>
          <a:r>
            <a:rPr lang="en-US" sz="1700" b="1" i="0" kern="1200" dirty="0">
              <a:solidFill>
                <a:schemeClr val="bg1"/>
              </a:solidFill>
            </a:rPr>
            <a:t>$17.2M</a:t>
          </a:r>
          <a:r>
            <a:rPr lang="en-US" sz="1700" b="0" i="0" kern="1200" dirty="0">
              <a:solidFill>
                <a:schemeClr val="bg1"/>
              </a:solidFill>
            </a:rPr>
            <a:t>)</a:t>
          </a:r>
          <a:endParaRPr lang="en-IN" sz="1700" kern="1200" dirty="0">
            <a:solidFill>
              <a:schemeClr val="bg1"/>
            </a:solidFill>
          </a:endParaRPr>
        </a:p>
      </dsp:txBody>
      <dsp:txXfrm>
        <a:off x="0" y="1210292"/>
        <a:ext cx="7843024" cy="60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b52db8a4c0_1_2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b52db8a4c0_1_2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f67480c12f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f67480c12f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ab8c1d4cb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ab8c1d4cb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52db8a4c0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52db8a4c0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aad5083a7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aad5083a7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ab8c1d4cb2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ab8c1d4cb2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f67480c12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f67480c12f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f67480c12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f67480c12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67480c12f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f67480c12f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f67480c12f_0_1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f67480c12f_0_1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f67480c12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f67480c12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103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67480c12f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f67480c12f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039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f67480c12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f67480c12f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867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f67480c12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f67480c12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45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67480c12f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f67480c12f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356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f67480c12f_0_1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f67480c12f_0_1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f67480c12f_0_1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f67480c12f_0_1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con títul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27400" y="740073"/>
            <a:ext cx="5689200" cy="25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72750" y="3669550"/>
            <a:ext cx="4947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831" r="83969"/>
          <a:stretch/>
        </p:blipFill>
        <p:spPr>
          <a:xfrm>
            <a:off x="-88950" y="-56000"/>
            <a:ext cx="1198500" cy="52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l="13398" r="71402"/>
          <a:stretch/>
        </p:blipFill>
        <p:spPr>
          <a:xfrm flipH="1">
            <a:off x="7945500" y="-83950"/>
            <a:ext cx="1198500" cy="52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-75675" y="-18625"/>
            <a:ext cx="11868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7938375" y="-48150"/>
            <a:ext cx="11580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65577" y="1620472"/>
            <a:ext cx="2880900" cy="12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865577" y="2887200"/>
            <a:ext cx="37158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729" y="1620472"/>
            <a:ext cx="1918200" cy="12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l="53851" r="10980"/>
          <a:stretch/>
        </p:blipFill>
        <p:spPr>
          <a:xfrm>
            <a:off x="-223500" y="-158975"/>
            <a:ext cx="2880900" cy="54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-223575" y="-18625"/>
            <a:ext cx="28809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5400000">
            <a:off x="6197992" y="2250477"/>
            <a:ext cx="5434200" cy="621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 rot="10800000">
            <a:off x="8604400" y="-156100"/>
            <a:ext cx="688200" cy="5444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713225" y="1164232"/>
            <a:ext cx="7726800" cy="32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973249" y="2462406"/>
            <a:ext cx="33087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63975" y="2462404"/>
            <a:ext cx="33087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973249" y="1791175"/>
            <a:ext cx="33087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063975" y="1791175"/>
            <a:ext cx="33087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l="75101" r="8873"/>
          <a:stretch/>
        </p:blipFill>
        <p:spPr>
          <a:xfrm rot="-5400000">
            <a:off x="3434288" y="890802"/>
            <a:ext cx="2238000" cy="9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 rot="-5400000">
            <a:off x="3460463" y="895002"/>
            <a:ext cx="2232300" cy="9293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682379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1117448" y="2337003"/>
            <a:ext cx="3588300" cy="10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 idx="2" hasCustomPrompt="1"/>
          </p:nvPr>
        </p:nvSpPr>
        <p:spPr>
          <a:xfrm>
            <a:off x="2494748" y="1000603"/>
            <a:ext cx="22110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subTitle" idx="1"/>
          </p:nvPr>
        </p:nvSpPr>
        <p:spPr>
          <a:xfrm>
            <a:off x="1380248" y="3479028"/>
            <a:ext cx="3325500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2"/>
          <p:cNvPicPr preferRelativeResize="0"/>
          <p:nvPr/>
        </p:nvPicPr>
        <p:blipFill rotWithShape="1">
          <a:blip r:embed="rId2">
            <a:alphaModFix/>
          </a:blip>
          <a:srcRect l="53851" r="10980"/>
          <a:stretch/>
        </p:blipFill>
        <p:spPr>
          <a:xfrm rot="10800000">
            <a:off x="6396000" y="-158100"/>
            <a:ext cx="2880900" cy="54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/>
          <p:nvPr/>
        </p:nvSpPr>
        <p:spPr>
          <a:xfrm>
            <a:off x="6396075" y="-78550"/>
            <a:ext cx="28809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1013700" y="2337000"/>
            <a:ext cx="7116600" cy="10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" hasCustomPrompt="1"/>
          </p:nvPr>
        </p:nvSpPr>
        <p:spPr>
          <a:xfrm>
            <a:off x="3466500" y="1000603"/>
            <a:ext cx="22110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2909250" y="3479028"/>
            <a:ext cx="3325500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 l="60935" r="23040"/>
          <a:stretch/>
        </p:blipFill>
        <p:spPr>
          <a:xfrm rot="5400000">
            <a:off x="3497475" y="-5056773"/>
            <a:ext cx="2238000" cy="9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 rot="5400000">
            <a:off x="3437150" y="-5046873"/>
            <a:ext cx="2232300" cy="9293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l="63114" r="20860"/>
          <a:stretch/>
        </p:blipFill>
        <p:spPr>
          <a:xfrm rot="-5400000">
            <a:off x="3434288" y="890802"/>
            <a:ext cx="2238000" cy="9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/>
          <p:nvPr/>
        </p:nvSpPr>
        <p:spPr>
          <a:xfrm rot="-5400000">
            <a:off x="3500313" y="895002"/>
            <a:ext cx="2232300" cy="9293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812600" y="1550175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651777" y="1513500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1812605" y="2268174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3"/>
          </p:nvPr>
        </p:nvSpPr>
        <p:spPr>
          <a:xfrm>
            <a:off x="5534275" y="1550175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4" hasCustomPrompt="1"/>
          </p:nvPr>
        </p:nvSpPr>
        <p:spPr>
          <a:xfrm>
            <a:off x="4357899" y="1513500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5"/>
          </p:nvPr>
        </p:nvSpPr>
        <p:spPr>
          <a:xfrm>
            <a:off x="5534275" y="2268174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6"/>
          </p:nvPr>
        </p:nvSpPr>
        <p:spPr>
          <a:xfrm>
            <a:off x="1812600" y="3146300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7" hasCustomPrompt="1"/>
          </p:nvPr>
        </p:nvSpPr>
        <p:spPr>
          <a:xfrm>
            <a:off x="651777" y="3109625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8"/>
          </p:nvPr>
        </p:nvSpPr>
        <p:spPr>
          <a:xfrm>
            <a:off x="1812605" y="3863825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9"/>
          </p:nvPr>
        </p:nvSpPr>
        <p:spPr>
          <a:xfrm>
            <a:off x="5534275" y="3146300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 idx="13" hasCustomPrompt="1"/>
          </p:nvPr>
        </p:nvSpPr>
        <p:spPr>
          <a:xfrm>
            <a:off x="4358025" y="3109625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4"/>
          </p:nvPr>
        </p:nvSpPr>
        <p:spPr>
          <a:xfrm>
            <a:off x="5534275" y="3863825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5"/>
          </p:nvPr>
        </p:nvSpPr>
        <p:spPr>
          <a:xfrm>
            <a:off x="713225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2">
            <a:alphaModFix/>
          </a:blip>
          <a:srcRect l="61708" r="24355"/>
          <a:stretch/>
        </p:blipFill>
        <p:spPr>
          <a:xfrm>
            <a:off x="8317600" y="-136475"/>
            <a:ext cx="1137000" cy="54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 flipH="1">
            <a:off x="8307100" y="-48150"/>
            <a:ext cx="11580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8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subTitle" idx="1"/>
          </p:nvPr>
        </p:nvSpPr>
        <p:spPr>
          <a:xfrm>
            <a:off x="957706" y="3075247"/>
            <a:ext cx="3067200" cy="9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2"/>
          </p:nvPr>
        </p:nvSpPr>
        <p:spPr>
          <a:xfrm>
            <a:off x="4855026" y="3075247"/>
            <a:ext cx="3067200" cy="9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3"/>
          </p:nvPr>
        </p:nvSpPr>
        <p:spPr>
          <a:xfrm>
            <a:off x="957706" y="2518750"/>
            <a:ext cx="30672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4"/>
          </p:nvPr>
        </p:nvSpPr>
        <p:spPr>
          <a:xfrm>
            <a:off x="4855026" y="2518750"/>
            <a:ext cx="30672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2">
            <a:alphaModFix/>
          </a:blip>
          <a:srcRect l="5678" r="80384"/>
          <a:stretch/>
        </p:blipFill>
        <p:spPr>
          <a:xfrm>
            <a:off x="8317600" y="-136475"/>
            <a:ext cx="1137000" cy="54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 flipH="1">
            <a:off x="8317600" y="-48150"/>
            <a:ext cx="11580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697800" y="539250"/>
            <a:ext cx="72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2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 rot="5400000">
            <a:off x="5268450" y="1332575"/>
            <a:ext cx="5434200" cy="24687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 rot="10800000">
            <a:off x="6751200" y="-150300"/>
            <a:ext cx="1673400" cy="5444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964772" y="1523638"/>
            <a:ext cx="38568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2"/>
          </p:nvPr>
        </p:nvSpPr>
        <p:spPr>
          <a:xfrm>
            <a:off x="964772" y="1970288"/>
            <a:ext cx="44277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3"/>
          </p:nvPr>
        </p:nvSpPr>
        <p:spPr>
          <a:xfrm>
            <a:off x="964772" y="2512084"/>
            <a:ext cx="38568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4"/>
          </p:nvPr>
        </p:nvSpPr>
        <p:spPr>
          <a:xfrm>
            <a:off x="964772" y="2958725"/>
            <a:ext cx="44277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5"/>
          </p:nvPr>
        </p:nvSpPr>
        <p:spPr>
          <a:xfrm>
            <a:off x="964772" y="3500513"/>
            <a:ext cx="38568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6"/>
          </p:nvPr>
        </p:nvSpPr>
        <p:spPr>
          <a:xfrm>
            <a:off x="964772" y="3947163"/>
            <a:ext cx="44277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TWO_COLUMNS_2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ubTitle" idx="1"/>
          </p:nvPr>
        </p:nvSpPr>
        <p:spPr>
          <a:xfrm>
            <a:off x="950318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2"/>
          </p:nvPr>
        </p:nvSpPr>
        <p:spPr>
          <a:xfrm>
            <a:off x="950318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3"/>
          </p:nvPr>
        </p:nvSpPr>
        <p:spPr>
          <a:xfrm>
            <a:off x="3726040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4"/>
          </p:nvPr>
        </p:nvSpPr>
        <p:spPr>
          <a:xfrm>
            <a:off x="3726040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5"/>
          </p:nvPr>
        </p:nvSpPr>
        <p:spPr>
          <a:xfrm>
            <a:off x="6464668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swald Medium"/>
              <a:buNone/>
              <a:defRPr sz="1800" b="1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6"/>
          </p:nvPr>
        </p:nvSpPr>
        <p:spPr>
          <a:xfrm>
            <a:off x="6464668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2">
            <a:alphaModFix/>
          </a:blip>
          <a:srcRect t="85118" b="1270"/>
          <a:stretch/>
        </p:blipFill>
        <p:spPr>
          <a:xfrm>
            <a:off x="-88575" y="4434925"/>
            <a:ext cx="9543300" cy="8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 rot="-5400000">
            <a:off x="4172425" y="231700"/>
            <a:ext cx="857700" cy="9245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697798" y="539250"/>
            <a:ext cx="766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AND_TWO_COLUMNS_2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subTitle" idx="1"/>
          </p:nvPr>
        </p:nvSpPr>
        <p:spPr>
          <a:xfrm>
            <a:off x="514850" y="3031137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2"/>
          </p:nvPr>
        </p:nvSpPr>
        <p:spPr>
          <a:xfrm>
            <a:off x="514850" y="2467649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taatliches"/>
              <a:buNone/>
              <a:defRPr sz="1800" b="1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3"/>
          </p:nvPr>
        </p:nvSpPr>
        <p:spPr>
          <a:xfrm>
            <a:off x="2557450" y="3632012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4"/>
          </p:nvPr>
        </p:nvSpPr>
        <p:spPr>
          <a:xfrm>
            <a:off x="2557451" y="3068524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taatliches"/>
              <a:buNone/>
              <a:defRPr sz="1800" b="1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5"/>
          </p:nvPr>
        </p:nvSpPr>
        <p:spPr>
          <a:xfrm>
            <a:off x="4600050" y="3031136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6"/>
          </p:nvPr>
        </p:nvSpPr>
        <p:spPr>
          <a:xfrm>
            <a:off x="4600051" y="2467649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7"/>
          </p:nvPr>
        </p:nvSpPr>
        <p:spPr>
          <a:xfrm>
            <a:off x="6642648" y="3645175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8"/>
          </p:nvPr>
        </p:nvSpPr>
        <p:spPr>
          <a:xfrm>
            <a:off x="6642650" y="3081686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taatliches"/>
              <a:buNone/>
              <a:defRPr sz="1800" b="1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/>
          <p:nvPr/>
        </p:nvSpPr>
        <p:spPr>
          <a:xfrm rot="10800000">
            <a:off x="-113200" y="4425597"/>
            <a:ext cx="9403500" cy="7818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-5400000">
            <a:off x="4147375" y="148474"/>
            <a:ext cx="865800" cy="9420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6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subTitle" idx="1"/>
          </p:nvPr>
        </p:nvSpPr>
        <p:spPr>
          <a:xfrm>
            <a:off x="955358" y="1806400"/>
            <a:ext cx="38589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72" name="Google Shape;272;p34"/>
          <p:cNvPicPr preferRelativeResize="0"/>
          <p:nvPr/>
        </p:nvPicPr>
        <p:blipFill rotWithShape="1">
          <a:blip r:embed="rId2">
            <a:alphaModFix/>
          </a:blip>
          <a:srcRect l="37274" r="21838"/>
          <a:stretch/>
        </p:blipFill>
        <p:spPr>
          <a:xfrm rot="10800000" flipH="1">
            <a:off x="6001300" y="-56000"/>
            <a:ext cx="3224100" cy="52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/>
          <p:nvPr/>
        </p:nvSpPr>
        <p:spPr>
          <a:xfrm flipH="1">
            <a:off x="6001300" y="-48150"/>
            <a:ext cx="32241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4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5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subTitle" idx="1"/>
          </p:nvPr>
        </p:nvSpPr>
        <p:spPr>
          <a:xfrm>
            <a:off x="713225" y="1434650"/>
            <a:ext cx="3858900" cy="27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77" name="Google Shape;277;p35"/>
          <p:cNvPicPr preferRelativeResize="0"/>
          <p:nvPr/>
        </p:nvPicPr>
        <p:blipFill rotWithShape="1">
          <a:blip r:embed="rId2">
            <a:alphaModFix/>
          </a:blip>
          <a:srcRect l="-360" r="59472"/>
          <a:stretch/>
        </p:blipFill>
        <p:spPr>
          <a:xfrm rot="10800000" flipH="1">
            <a:off x="6001300" y="-56000"/>
            <a:ext cx="3224100" cy="52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/>
          <p:nvPr/>
        </p:nvSpPr>
        <p:spPr>
          <a:xfrm flipH="1">
            <a:off x="6019225" y="-48150"/>
            <a:ext cx="32241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title"/>
          </p:nvPr>
        </p:nvSpPr>
        <p:spPr>
          <a:xfrm>
            <a:off x="697800" y="539250"/>
            <a:ext cx="530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1"/>
          <p:cNvPicPr preferRelativeResize="0"/>
          <p:nvPr/>
        </p:nvPicPr>
        <p:blipFill rotWithShape="1">
          <a:blip r:embed="rId2">
            <a:alphaModFix/>
          </a:blip>
          <a:srcRect t="14925" b="71463"/>
          <a:stretch/>
        </p:blipFill>
        <p:spPr>
          <a:xfrm>
            <a:off x="-88575" y="3993175"/>
            <a:ext cx="9543300" cy="13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/>
          <p:nvPr/>
        </p:nvSpPr>
        <p:spPr>
          <a:xfrm rot="-5400000">
            <a:off x="3924300" y="18025"/>
            <a:ext cx="1295400" cy="9245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2"/>
          <p:cNvPicPr preferRelativeResize="0"/>
          <p:nvPr/>
        </p:nvPicPr>
        <p:blipFill rotWithShape="1">
          <a:blip r:embed="rId2">
            <a:alphaModFix/>
          </a:blip>
          <a:srcRect l="4744" r="81318"/>
          <a:stretch/>
        </p:blipFill>
        <p:spPr>
          <a:xfrm>
            <a:off x="8307100" y="-136475"/>
            <a:ext cx="1137000" cy="54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2"/>
          <p:cNvSpPr/>
          <p:nvPr/>
        </p:nvSpPr>
        <p:spPr>
          <a:xfrm flipH="1">
            <a:off x="8307100" y="-48150"/>
            <a:ext cx="1158000" cy="5239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xygen"/>
              <a:buNone/>
              <a:defRPr sz="30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xygen"/>
              <a:buNone/>
              <a:defRPr sz="2800" b="1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  <p:sldLayoutId id="2147483659" r:id="rId7"/>
    <p:sldLayoutId id="2147483660" r:id="rId8"/>
    <p:sldLayoutId id="2147483663" r:id="rId9"/>
    <p:sldLayoutId id="2147483664" r:id="rId10"/>
    <p:sldLayoutId id="2147483665" r:id="rId11"/>
    <p:sldLayoutId id="2147483667" r:id="rId12"/>
    <p:sldLayoutId id="2147483680" r:id="rId13"/>
    <p:sldLayoutId id="2147483681" r:id="rId14"/>
    <p:sldLayoutId id="2147483687" r:id="rId15"/>
    <p:sldLayoutId id="214748368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1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ctrTitle"/>
          </p:nvPr>
        </p:nvSpPr>
        <p:spPr>
          <a:xfrm>
            <a:off x="1727400" y="740073"/>
            <a:ext cx="5689200" cy="25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dirty="0">
                <a:solidFill>
                  <a:schemeClr val="lt1"/>
                </a:solidFill>
              </a:rPr>
              <a:t>SUPPLY CHAIN </a:t>
            </a:r>
            <a:br>
              <a:rPr lang="en-US" sz="5500" dirty="0">
                <a:solidFill>
                  <a:schemeClr val="lt1"/>
                </a:solidFill>
              </a:rPr>
            </a:br>
            <a:r>
              <a:rPr lang="en-US" sz="5500" dirty="0">
                <a:solidFill>
                  <a:schemeClr val="lt1"/>
                </a:solidFill>
              </a:rPr>
              <a:t>&amp; SALES PERFORMANCE</a:t>
            </a:r>
            <a:br>
              <a:rPr lang="en-US" sz="4000" b="0" dirty="0">
                <a:solidFill>
                  <a:srgbClr val="DE96C1"/>
                </a:solidFill>
              </a:rPr>
            </a:br>
            <a:r>
              <a:rPr lang="en-US" sz="4000" b="0" dirty="0">
                <a:solidFill>
                  <a:srgbClr val="DE96C1"/>
                </a:solidFill>
              </a:rPr>
              <a:t>Analysis</a:t>
            </a:r>
          </a:p>
        </p:txBody>
      </p:sp>
      <p:sp>
        <p:nvSpPr>
          <p:cNvPr id="313" name="Google Shape;313;p45"/>
          <p:cNvSpPr txBox="1">
            <a:spLocks noGrp="1"/>
          </p:cNvSpPr>
          <p:nvPr>
            <p:ph type="subTitle" idx="1"/>
          </p:nvPr>
        </p:nvSpPr>
        <p:spPr>
          <a:xfrm>
            <a:off x="2172750" y="3669550"/>
            <a:ext cx="4947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SHIFANA NAZAR</a:t>
            </a:r>
            <a:endParaRPr dirty="0"/>
          </a:p>
        </p:txBody>
      </p:sp>
      <p:cxnSp>
        <p:nvCxnSpPr>
          <p:cNvPr id="314" name="Google Shape;314;p45"/>
          <p:cNvCxnSpPr/>
          <p:nvPr/>
        </p:nvCxnSpPr>
        <p:spPr>
          <a:xfrm>
            <a:off x="2172675" y="3453625"/>
            <a:ext cx="4947000" cy="0"/>
          </a:xfrm>
          <a:prstGeom prst="straightConnector1">
            <a:avLst/>
          </a:prstGeom>
          <a:noFill/>
          <a:ln w="19050" cap="flat" cmpd="sng">
            <a:solidFill>
              <a:srgbClr val="DE96C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>
            <a:spLocks noGrp="1"/>
          </p:cNvSpPr>
          <p:nvPr>
            <p:ph type="title"/>
          </p:nvPr>
        </p:nvSpPr>
        <p:spPr>
          <a:xfrm>
            <a:off x="713225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</a:rPr>
              <a:t>PROBLEM STATEMENT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0" name="Google Shape;320;p46"/>
          <p:cNvSpPr txBox="1">
            <a:spLocks noGrp="1"/>
          </p:cNvSpPr>
          <p:nvPr>
            <p:ph type="subTitle" idx="1"/>
          </p:nvPr>
        </p:nvSpPr>
        <p:spPr>
          <a:xfrm>
            <a:off x="713225" y="1164232"/>
            <a:ext cx="7726800" cy="32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43439"/>
              </a:buClr>
              <a:buSzPts val="1100"/>
              <a:buFont typeface="Arial"/>
              <a:buNone/>
            </a:pPr>
            <a:r>
              <a:rPr lang="en-US" sz="2400" b="1" dirty="0"/>
              <a:t>A global retail company, </a:t>
            </a:r>
            <a:r>
              <a:rPr lang="en-US" sz="2400" b="1" dirty="0" err="1"/>
              <a:t>DataCo</a:t>
            </a:r>
            <a:r>
              <a:rPr lang="en-US" sz="2400" b="1" dirty="0"/>
              <a:t>, is facing challenges in managing its supply chain efficiency, delivery performance, and overall profitability. The company operates across multiple regions, markets, and product categories, serving a diverse customer base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&amp; STRATEGY: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DEFINITION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71" name="Google Shape;371;p51"/>
          <p:cNvSpPr txBox="1">
            <a:spLocks noGrp="1"/>
          </p:cNvSpPr>
          <p:nvPr>
            <p:ph type="subTitle" idx="1"/>
          </p:nvPr>
        </p:nvSpPr>
        <p:spPr>
          <a:xfrm>
            <a:off x="955358" y="1806400"/>
            <a:ext cx="38589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project analyzes business performance using Power BI by cleaning data, identifying KPIs, and building interactive dashboards for insights</a:t>
            </a:r>
            <a:r>
              <a:rPr lang="en-US" dirty="0"/>
              <a:t>.</a:t>
            </a:r>
            <a:endParaRPr dirty="0"/>
          </a:p>
        </p:txBody>
      </p:sp>
      <p:cxnSp>
        <p:nvCxnSpPr>
          <p:cNvPr id="372" name="Google Shape;372;p51"/>
          <p:cNvCxnSpPr/>
          <p:nvPr/>
        </p:nvCxnSpPr>
        <p:spPr>
          <a:xfrm>
            <a:off x="798568" y="1806389"/>
            <a:ext cx="10200" cy="1927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"/>
          <p:cNvSpPr txBox="1">
            <a:spLocks noGrp="1"/>
          </p:cNvSpPr>
          <p:nvPr>
            <p:ph type="title" idx="15"/>
          </p:nvPr>
        </p:nvSpPr>
        <p:spPr>
          <a:xfrm>
            <a:off x="713225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DASHBOARDS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6" name="Google Shape;326;p47"/>
          <p:cNvSpPr txBox="1">
            <a:spLocks noGrp="1"/>
          </p:cNvSpPr>
          <p:nvPr>
            <p:ph type="subTitle" idx="1"/>
          </p:nvPr>
        </p:nvSpPr>
        <p:spPr>
          <a:xfrm>
            <a:off x="1812600" y="1550175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Executive </a:t>
            </a: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Dashboard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7" name="Google Shape;327;p47"/>
          <p:cNvSpPr txBox="1">
            <a:spLocks noGrp="1"/>
          </p:cNvSpPr>
          <p:nvPr>
            <p:ph type="title"/>
          </p:nvPr>
        </p:nvSpPr>
        <p:spPr>
          <a:xfrm>
            <a:off x="651777" y="1513500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9" name="Google Shape;329;p47"/>
          <p:cNvSpPr txBox="1">
            <a:spLocks noGrp="1"/>
          </p:cNvSpPr>
          <p:nvPr>
            <p:ph type="subTitle" idx="3"/>
          </p:nvPr>
        </p:nvSpPr>
        <p:spPr>
          <a:xfrm>
            <a:off x="5534275" y="1550175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Supply Chain </a:t>
            </a: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Dashboard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0" name="Google Shape;330;p47"/>
          <p:cNvSpPr txBox="1">
            <a:spLocks noGrp="1"/>
          </p:cNvSpPr>
          <p:nvPr>
            <p:ph type="title" idx="4"/>
          </p:nvPr>
        </p:nvSpPr>
        <p:spPr>
          <a:xfrm>
            <a:off x="4357899" y="1513500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1" name="Google Shape;331;p47"/>
          <p:cNvSpPr txBox="1">
            <a:spLocks noGrp="1"/>
          </p:cNvSpPr>
          <p:nvPr>
            <p:ph type="subTitle" idx="5"/>
          </p:nvPr>
        </p:nvSpPr>
        <p:spPr>
          <a:xfrm>
            <a:off x="5534275" y="2268174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32" name="Google Shape;332;p47"/>
          <p:cNvSpPr txBox="1">
            <a:spLocks noGrp="1"/>
          </p:cNvSpPr>
          <p:nvPr>
            <p:ph type="subTitle" idx="6"/>
          </p:nvPr>
        </p:nvSpPr>
        <p:spPr>
          <a:xfrm>
            <a:off x="1812600" y="3146300"/>
            <a:ext cx="20709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Sales &amp; Product </a:t>
            </a: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Dashboard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3" name="Google Shape;333;p47"/>
          <p:cNvSpPr txBox="1">
            <a:spLocks noGrp="1"/>
          </p:cNvSpPr>
          <p:nvPr>
            <p:ph type="title" idx="7"/>
          </p:nvPr>
        </p:nvSpPr>
        <p:spPr>
          <a:xfrm>
            <a:off x="651777" y="3109625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5" name="Google Shape;335;p47"/>
          <p:cNvSpPr txBox="1">
            <a:spLocks noGrp="1"/>
          </p:cNvSpPr>
          <p:nvPr>
            <p:ph type="subTitle" idx="9"/>
          </p:nvPr>
        </p:nvSpPr>
        <p:spPr>
          <a:xfrm>
            <a:off x="5534275" y="3146299"/>
            <a:ext cx="2070900" cy="928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Customer &amp;  Geography </a:t>
            </a: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Dashboard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6" name="Google Shape;336;p47"/>
          <p:cNvSpPr txBox="1">
            <a:spLocks noGrp="1"/>
          </p:cNvSpPr>
          <p:nvPr>
            <p:ph type="title" idx="13"/>
          </p:nvPr>
        </p:nvSpPr>
        <p:spPr>
          <a:xfrm>
            <a:off x="4358025" y="3109625"/>
            <a:ext cx="8985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subTitle" idx="14"/>
          </p:nvPr>
        </p:nvSpPr>
        <p:spPr>
          <a:xfrm>
            <a:off x="5534275" y="3863825"/>
            <a:ext cx="22188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338" name="Google Shape;338;p47"/>
          <p:cNvCxnSpPr/>
          <p:nvPr/>
        </p:nvCxnSpPr>
        <p:spPr>
          <a:xfrm>
            <a:off x="1655730" y="1673673"/>
            <a:ext cx="9000" cy="109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9" name="Google Shape;339;p47"/>
          <p:cNvCxnSpPr/>
          <p:nvPr/>
        </p:nvCxnSpPr>
        <p:spPr>
          <a:xfrm>
            <a:off x="5377400" y="1673673"/>
            <a:ext cx="9000" cy="109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47"/>
          <p:cNvCxnSpPr/>
          <p:nvPr/>
        </p:nvCxnSpPr>
        <p:spPr>
          <a:xfrm>
            <a:off x="1655730" y="3266182"/>
            <a:ext cx="9000" cy="109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47"/>
          <p:cNvCxnSpPr/>
          <p:nvPr/>
        </p:nvCxnSpPr>
        <p:spPr>
          <a:xfrm>
            <a:off x="5377409" y="3266182"/>
            <a:ext cx="9000" cy="109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0"/>
          <p:cNvSpPr txBox="1">
            <a:spLocks noGrp="1"/>
          </p:cNvSpPr>
          <p:nvPr>
            <p:ph type="title"/>
          </p:nvPr>
        </p:nvSpPr>
        <p:spPr>
          <a:xfrm>
            <a:off x="4865577" y="1620472"/>
            <a:ext cx="2880900" cy="12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Executive</a:t>
            </a:r>
            <a:br>
              <a:rPr lang="en-US" dirty="0"/>
            </a:br>
            <a:r>
              <a:rPr lang="en-US" dirty="0"/>
              <a:t>Dashboard</a:t>
            </a:r>
            <a:endParaRPr dirty="0"/>
          </a:p>
        </p:txBody>
      </p:sp>
      <p:sp>
        <p:nvSpPr>
          <p:cNvPr id="363" name="Google Shape;363;p50"/>
          <p:cNvSpPr txBox="1">
            <a:spLocks noGrp="1"/>
          </p:cNvSpPr>
          <p:nvPr>
            <p:ph type="title" idx="2"/>
          </p:nvPr>
        </p:nvSpPr>
        <p:spPr>
          <a:xfrm>
            <a:off x="2971729" y="1620472"/>
            <a:ext cx="1918200" cy="12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4" name="Google Shape;364;p50"/>
          <p:cNvSpPr txBox="1">
            <a:spLocks noGrp="1"/>
          </p:cNvSpPr>
          <p:nvPr>
            <p:ph type="subTitle" idx="1"/>
          </p:nvPr>
        </p:nvSpPr>
        <p:spPr>
          <a:xfrm>
            <a:off x="4865577" y="2887200"/>
            <a:ext cx="37158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dashboard gives a quick overview of overall business performance, including sales, profit, and delivery status.</a:t>
            </a:r>
            <a:endParaRPr dirty="0"/>
          </a:p>
        </p:txBody>
      </p:sp>
      <p:cxnSp>
        <p:nvCxnSpPr>
          <p:cNvPr id="365" name="Google Shape;365;p50"/>
          <p:cNvCxnSpPr/>
          <p:nvPr/>
        </p:nvCxnSpPr>
        <p:spPr>
          <a:xfrm rot="10800000">
            <a:off x="4741950" y="1730150"/>
            <a:ext cx="0" cy="200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>
            <a:spLocks noGrp="1"/>
          </p:cNvSpPr>
          <p:nvPr>
            <p:ph type="subTitle" idx="1"/>
          </p:nvPr>
        </p:nvSpPr>
        <p:spPr>
          <a:xfrm>
            <a:off x="950318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Late Delivery %</a:t>
            </a:r>
            <a:endParaRPr dirty="0"/>
          </a:p>
        </p:txBody>
      </p:sp>
      <p:sp>
        <p:nvSpPr>
          <p:cNvPr id="378" name="Google Shape;378;p52"/>
          <p:cNvSpPr txBox="1">
            <a:spLocks noGrp="1"/>
          </p:cNvSpPr>
          <p:nvPr>
            <p:ph type="subTitle" idx="2"/>
          </p:nvPr>
        </p:nvSpPr>
        <p:spPr>
          <a:xfrm>
            <a:off x="950318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bg2">
                    <a:lumMod val="50000"/>
                  </a:schemeClr>
                </a:solidFill>
              </a:rPr>
              <a:t>54.8%</a:t>
            </a:r>
            <a:endParaRPr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9" name="Google Shape;379;p52"/>
          <p:cNvSpPr txBox="1">
            <a:spLocks noGrp="1"/>
          </p:cNvSpPr>
          <p:nvPr>
            <p:ph type="subTitle" idx="3"/>
          </p:nvPr>
        </p:nvSpPr>
        <p:spPr>
          <a:xfrm>
            <a:off x="3726040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Total Sales</a:t>
            </a:r>
            <a:endParaRPr dirty="0"/>
          </a:p>
        </p:txBody>
      </p:sp>
      <p:sp>
        <p:nvSpPr>
          <p:cNvPr id="380" name="Google Shape;380;p52"/>
          <p:cNvSpPr txBox="1">
            <a:spLocks noGrp="1"/>
          </p:cNvSpPr>
          <p:nvPr>
            <p:ph type="subTitle" idx="4"/>
          </p:nvPr>
        </p:nvSpPr>
        <p:spPr>
          <a:xfrm>
            <a:off x="3726040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bg2">
                    <a:lumMod val="75000"/>
                  </a:schemeClr>
                </a:solidFill>
              </a:rPr>
              <a:t>$ 36.8M</a:t>
            </a:r>
            <a:endParaRPr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81" name="Google Shape;381;p52"/>
          <p:cNvSpPr txBox="1">
            <a:spLocks noGrp="1"/>
          </p:cNvSpPr>
          <p:nvPr>
            <p:ph type="subTitle" idx="5"/>
          </p:nvPr>
        </p:nvSpPr>
        <p:spPr>
          <a:xfrm>
            <a:off x="6464668" y="2691020"/>
            <a:ext cx="18984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Total Profit</a:t>
            </a:r>
            <a:endParaRPr dirty="0"/>
          </a:p>
        </p:txBody>
      </p:sp>
      <p:sp>
        <p:nvSpPr>
          <p:cNvPr id="382" name="Google Shape;382;p52"/>
          <p:cNvSpPr txBox="1">
            <a:spLocks noGrp="1"/>
          </p:cNvSpPr>
          <p:nvPr>
            <p:ph type="subTitle" idx="6"/>
          </p:nvPr>
        </p:nvSpPr>
        <p:spPr>
          <a:xfrm>
            <a:off x="6464668" y="3118700"/>
            <a:ext cx="1898400" cy="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bg2">
                    <a:lumMod val="50000"/>
                  </a:schemeClr>
                </a:solidFill>
              </a:rPr>
              <a:t>$ 4.0M</a:t>
            </a:r>
            <a:endParaRPr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83" name="Google Shape;383;p52"/>
          <p:cNvCxnSpPr/>
          <p:nvPr/>
        </p:nvCxnSpPr>
        <p:spPr>
          <a:xfrm>
            <a:off x="793281" y="2759000"/>
            <a:ext cx="0" cy="86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4" name="Google Shape;384;p52"/>
          <p:cNvCxnSpPr/>
          <p:nvPr/>
        </p:nvCxnSpPr>
        <p:spPr>
          <a:xfrm>
            <a:off x="3550331" y="2759000"/>
            <a:ext cx="0" cy="86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52"/>
          <p:cNvCxnSpPr/>
          <p:nvPr/>
        </p:nvCxnSpPr>
        <p:spPr>
          <a:xfrm>
            <a:off x="6307631" y="2759000"/>
            <a:ext cx="0" cy="86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p52"/>
          <p:cNvSpPr/>
          <p:nvPr/>
        </p:nvSpPr>
        <p:spPr>
          <a:xfrm rot="-5400000">
            <a:off x="4225350" y="149500"/>
            <a:ext cx="845700" cy="9420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2"/>
          <p:cNvSpPr txBox="1">
            <a:spLocks noGrp="1"/>
          </p:cNvSpPr>
          <p:nvPr>
            <p:ph type="title"/>
          </p:nvPr>
        </p:nvSpPr>
        <p:spPr>
          <a:xfrm>
            <a:off x="697798" y="539250"/>
            <a:ext cx="766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Performance Indicators (KPIs)</a:t>
            </a:r>
            <a:endParaRPr dirty="0"/>
          </a:p>
        </p:txBody>
      </p:sp>
      <p:pic>
        <p:nvPicPr>
          <p:cNvPr id="5" name="Picture 4" descr="A black and white outline of a truck with a exclamation mark&#10;&#10;AI-generated content may be incorrect.">
            <a:extLst>
              <a:ext uri="{FF2B5EF4-FFF2-40B4-BE49-F238E27FC236}">
                <a16:creationId xmlns:a16="http://schemas.microsoft.com/office/drawing/2014/main" id="{2D5B97EE-976E-AB0C-D1A5-4C5FC930E5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6319" y="972069"/>
            <a:ext cx="2219493" cy="1926812"/>
          </a:xfrm>
          <a:prstGeom prst="rect">
            <a:avLst/>
          </a:prstGeom>
        </p:spPr>
      </p:pic>
      <p:pic>
        <p:nvPicPr>
          <p:cNvPr id="7" name="Picture 6" descr="A hand holding a graph&#10;&#10;AI-generated content may be incorrect.">
            <a:extLst>
              <a:ext uri="{FF2B5EF4-FFF2-40B4-BE49-F238E27FC236}">
                <a16:creationId xmlns:a16="http://schemas.microsoft.com/office/drawing/2014/main" id="{621D0984-C365-8F85-C920-C42BFBE67D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04504" y="1188552"/>
            <a:ext cx="1524148" cy="1524148"/>
          </a:xfrm>
          <a:prstGeom prst="rect">
            <a:avLst/>
          </a:prstGeom>
        </p:spPr>
      </p:pic>
      <p:pic>
        <p:nvPicPr>
          <p:cNvPr id="9" name="Picture 8" descr="A hand holding a bag of money&#10;&#10;AI-generated content may be incorrect.">
            <a:extLst>
              <a:ext uri="{FF2B5EF4-FFF2-40B4-BE49-F238E27FC236}">
                <a16:creationId xmlns:a16="http://schemas.microsoft.com/office/drawing/2014/main" id="{5E29AB8A-855C-5639-3485-6432E5FC31C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64668" y="1295741"/>
            <a:ext cx="1309770" cy="1309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>
            <a:spLocks noGrp="1"/>
          </p:cNvSpPr>
          <p:nvPr>
            <p:ph type="title"/>
          </p:nvPr>
        </p:nvSpPr>
        <p:spPr>
          <a:xfrm>
            <a:off x="147675" y="5854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</a:rPr>
              <a:t>INSIGHTS :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Picture 7" descr="A screenshot of a green chart&#10;&#10;AI-generated content may be incorrect.">
            <a:extLst>
              <a:ext uri="{FF2B5EF4-FFF2-40B4-BE49-F238E27FC236}">
                <a16:creationId xmlns:a16="http://schemas.microsoft.com/office/drawing/2014/main" id="{F8724264-EDAB-CBD9-15F8-1F6838F4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3" y="2080482"/>
            <a:ext cx="6087764" cy="2922697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4222801F-6270-7DC9-7404-1C3E2C1EA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3438593"/>
              </p:ext>
            </p:extLst>
          </p:nvPr>
        </p:nvGraphicFramePr>
        <p:xfrm>
          <a:off x="297366" y="631245"/>
          <a:ext cx="6266984" cy="1384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"/>
          <p:cNvSpPr txBox="1">
            <a:spLocks noGrp="1"/>
          </p:cNvSpPr>
          <p:nvPr>
            <p:ph type="title"/>
          </p:nvPr>
        </p:nvSpPr>
        <p:spPr>
          <a:xfrm>
            <a:off x="1117448" y="2337003"/>
            <a:ext cx="3588300" cy="10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Supply Chain</a:t>
            </a:r>
            <a:br>
              <a:rPr lang="en-US" dirty="0"/>
            </a:br>
            <a:r>
              <a:rPr lang="en-US" dirty="0"/>
              <a:t>Dashboard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 idx="2"/>
          </p:nvPr>
        </p:nvSpPr>
        <p:spPr>
          <a:xfrm>
            <a:off x="2494748" y="1000603"/>
            <a:ext cx="22110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3" name="Google Shape;503;p61"/>
          <p:cNvSpPr txBox="1">
            <a:spLocks noGrp="1"/>
          </p:cNvSpPr>
          <p:nvPr>
            <p:ph type="subTitle" idx="1"/>
          </p:nvPr>
        </p:nvSpPr>
        <p:spPr>
          <a:xfrm>
            <a:off x="1380248" y="3479027"/>
            <a:ext cx="3325500" cy="127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latin typeface="Oxygen" panose="02000503000000000000" pitchFamily="2" charset="0"/>
              </a:rPr>
              <a:t>This dashboard focuses on supply chain performance, highlighting delivery times, delays, and shipping efficiency to identify operational issues.</a:t>
            </a:r>
            <a:endParaRPr lang="en-US" dirty="0">
              <a:latin typeface="Oxygen" panose="02000503000000000000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04" name="Google Shape;504;p61"/>
          <p:cNvCxnSpPr>
            <a:cxnSpLocks/>
          </p:cNvCxnSpPr>
          <p:nvPr/>
        </p:nvCxnSpPr>
        <p:spPr>
          <a:xfrm>
            <a:off x="4876663" y="1176425"/>
            <a:ext cx="0" cy="352195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Performance Indicators (KPIs)</a:t>
            </a:r>
            <a:endParaRPr dirty="0"/>
          </a:p>
        </p:txBody>
      </p:sp>
      <p:sp>
        <p:nvSpPr>
          <p:cNvPr id="510" name="Google Shape;510;p62"/>
          <p:cNvSpPr txBox="1">
            <a:spLocks noGrp="1"/>
          </p:cNvSpPr>
          <p:nvPr>
            <p:ph type="subTitle" idx="1"/>
          </p:nvPr>
        </p:nvSpPr>
        <p:spPr>
          <a:xfrm>
            <a:off x="514850" y="3031137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3.5</a:t>
            </a:r>
            <a:endParaRPr sz="2800" b="1" dirty="0"/>
          </a:p>
        </p:txBody>
      </p:sp>
      <p:sp>
        <p:nvSpPr>
          <p:cNvPr id="512" name="Google Shape;512;p62"/>
          <p:cNvSpPr txBox="1">
            <a:spLocks noGrp="1"/>
          </p:cNvSpPr>
          <p:nvPr>
            <p:ph type="subTitle" idx="3"/>
          </p:nvPr>
        </p:nvSpPr>
        <p:spPr>
          <a:xfrm>
            <a:off x="2557450" y="3632012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0.57</a:t>
            </a:r>
            <a:endParaRPr sz="2800" b="1" dirty="0"/>
          </a:p>
        </p:txBody>
      </p:sp>
      <p:sp>
        <p:nvSpPr>
          <p:cNvPr id="513" name="Google Shape;513;p62"/>
          <p:cNvSpPr txBox="1">
            <a:spLocks noGrp="1"/>
          </p:cNvSpPr>
          <p:nvPr>
            <p:ph type="subTitle" idx="4"/>
          </p:nvPr>
        </p:nvSpPr>
        <p:spPr>
          <a:xfrm>
            <a:off x="2557451" y="3068524"/>
            <a:ext cx="2170666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Average Delivery </a:t>
            </a:r>
            <a:r>
              <a:rPr lang="en" dirty="0">
                <a:solidFill>
                  <a:schemeClr val="dk2"/>
                </a:solidFill>
              </a:rPr>
              <a:t>Delay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514" name="Google Shape;514;p62"/>
          <p:cNvSpPr txBox="1">
            <a:spLocks noGrp="1"/>
          </p:cNvSpPr>
          <p:nvPr>
            <p:ph type="subTitle" idx="5"/>
          </p:nvPr>
        </p:nvSpPr>
        <p:spPr>
          <a:xfrm>
            <a:off x="4600050" y="3031136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99K</a:t>
            </a:r>
            <a:endParaRPr sz="2800" b="1" dirty="0"/>
          </a:p>
        </p:txBody>
      </p:sp>
      <p:sp>
        <p:nvSpPr>
          <p:cNvPr id="515" name="Google Shape;515;p62"/>
          <p:cNvSpPr txBox="1">
            <a:spLocks noGrp="1"/>
          </p:cNvSpPr>
          <p:nvPr>
            <p:ph type="subTitle" idx="6"/>
          </p:nvPr>
        </p:nvSpPr>
        <p:spPr>
          <a:xfrm>
            <a:off x="4600051" y="2467649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Late Orders </a:t>
            </a:r>
            <a:r>
              <a:rPr lang="en-US" dirty="0">
                <a:solidFill>
                  <a:schemeClr val="dk2"/>
                </a:solidFill>
              </a:rPr>
              <a:t>Count</a:t>
            </a:r>
          </a:p>
        </p:txBody>
      </p:sp>
      <p:sp>
        <p:nvSpPr>
          <p:cNvPr id="516" name="Google Shape;516;p62"/>
          <p:cNvSpPr txBox="1">
            <a:spLocks noGrp="1"/>
          </p:cNvSpPr>
          <p:nvPr>
            <p:ph type="subTitle" idx="7"/>
          </p:nvPr>
        </p:nvSpPr>
        <p:spPr>
          <a:xfrm>
            <a:off x="6782576" y="3710524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2.9</a:t>
            </a:r>
            <a:endParaRPr sz="2800" b="1" dirty="0"/>
          </a:p>
        </p:txBody>
      </p:sp>
      <p:sp>
        <p:nvSpPr>
          <p:cNvPr id="517" name="Google Shape;517;p62"/>
          <p:cNvSpPr txBox="1">
            <a:spLocks noGrp="1"/>
          </p:cNvSpPr>
          <p:nvPr>
            <p:ph type="subTitle" idx="8"/>
          </p:nvPr>
        </p:nvSpPr>
        <p:spPr>
          <a:xfrm>
            <a:off x="6642648" y="3031136"/>
            <a:ext cx="2263457" cy="8509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Average Sheduled </a:t>
            </a:r>
            <a:r>
              <a:rPr lang="en" dirty="0">
                <a:solidFill>
                  <a:schemeClr val="dk2"/>
                </a:solidFill>
              </a:rPr>
              <a:t>Days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3" name="Picture 2" descr="A clock and location markers&#10;&#10;AI-generated content may be incorrect.">
            <a:extLst>
              <a:ext uri="{FF2B5EF4-FFF2-40B4-BE49-F238E27FC236}">
                <a16:creationId xmlns:a16="http://schemas.microsoft.com/office/drawing/2014/main" id="{02CA3D34-38E7-BDA8-CFAD-39100649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5748" y="1204090"/>
            <a:ext cx="1334210" cy="1330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4CF295-D178-B8B9-02C9-1F8322D4099C}"/>
              </a:ext>
            </a:extLst>
          </p:cNvPr>
          <p:cNvSpPr txBox="1"/>
          <p:nvPr/>
        </p:nvSpPr>
        <p:spPr>
          <a:xfrm>
            <a:off x="697802" y="2478885"/>
            <a:ext cx="1811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Average Delivery</a:t>
            </a:r>
          </a:p>
          <a:p>
            <a:r>
              <a:rPr lang="en-US" b="1" dirty="0"/>
              <a:t>          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Days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Picture 5" descr="A box and clock on a black background&#10;&#10;AI-generated content may be incorrect.">
            <a:extLst>
              <a:ext uri="{FF2B5EF4-FFF2-40B4-BE49-F238E27FC236}">
                <a16:creationId xmlns:a16="http://schemas.microsoft.com/office/drawing/2014/main" id="{C1E1A91B-E9DD-96C2-8D91-047C6BE1C74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89859" y="2001138"/>
            <a:ext cx="1113120" cy="1083827"/>
          </a:xfrm>
          <a:prstGeom prst="rect">
            <a:avLst/>
          </a:prstGeom>
        </p:spPr>
      </p:pic>
      <p:pic>
        <p:nvPicPr>
          <p:cNvPr id="8" name="Picture 7" descr="A black background with a clock and exclamation mark&#10;&#10;AI-generated content may be incorrect.">
            <a:extLst>
              <a:ext uri="{FF2B5EF4-FFF2-40B4-BE49-F238E27FC236}">
                <a16:creationId xmlns:a16="http://schemas.microsoft.com/office/drawing/2014/main" id="{CD9BC43C-DA19-899F-C94D-99CD7BA6083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41598" y="1250513"/>
            <a:ext cx="1228372" cy="1228372"/>
          </a:xfrm>
          <a:prstGeom prst="rect">
            <a:avLst/>
          </a:prstGeom>
        </p:spPr>
      </p:pic>
      <p:pic>
        <p:nvPicPr>
          <p:cNvPr id="10" name="Picture 9" descr="A black and white image of a calendar and clock&#10;&#10;AI-generated content may be incorrect.">
            <a:extLst>
              <a:ext uri="{FF2B5EF4-FFF2-40B4-BE49-F238E27FC236}">
                <a16:creationId xmlns:a16="http://schemas.microsoft.com/office/drawing/2014/main" id="{D8990F20-E3C9-1487-1B18-B39FD0766B4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08589" y="1935110"/>
            <a:ext cx="1087550" cy="108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6"/>
          <p:cNvSpPr txBox="1">
            <a:spLocks noGrp="1"/>
          </p:cNvSpPr>
          <p:nvPr>
            <p:ph type="title"/>
          </p:nvPr>
        </p:nvSpPr>
        <p:spPr>
          <a:xfrm>
            <a:off x="318658" y="122937"/>
            <a:ext cx="72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INSIGHTS :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3" name="Picture 2" descr="A chart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90BEA492-7A6A-0444-68F4-F73D218D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356" y="2571749"/>
            <a:ext cx="2274849" cy="2571750"/>
          </a:xfrm>
          <a:prstGeom prst="rect">
            <a:avLst/>
          </a:prstGeom>
        </p:spPr>
      </p:pic>
      <p:pic>
        <p:nvPicPr>
          <p:cNvPr id="5" name="Picture 4" descr="A graph of a number of numbers and a line&#10;&#10;AI-generated content may be incorrect.">
            <a:extLst>
              <a:ext uri="{FF2B5EF4-FFF2-40B4-BE49-F238E27FC236}">
                <a16:creationId xmlns:a16="http://schemas.microsoft.com/office/drawing/2014/main" id="{0AC68DCB-2B21-9DD7-68BB-34C694731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1750"/>
            <a:ext cx="5999356" cy="257175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40A3346-CE1F-4FDE-B0A0-30406176D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5780857"/>
              </p:ext>
            </p:extLst>
          </p:nvPr>
        </p:nvGraphicFramePr>
        <p:xfrm>
          <a:off x="163551" y="695637"/>
          <a:ext cx="7969405" cy="1600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1"/>
          <p:cNvSpPr txBox="1">
            <a:spLocks noGrp="1"/>
          </p:cNvSpPr>
          <p:nvPr>
            <p:ph type="title"/>
          </p:nvPr>
        </p:nvSpPr>
        <p:spPr>
          <a:xfrm>
            <a:off x="1013700" y="2337000"/>
            <a:ext cx="7116600" cy="10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Sales and Product</a:t>
            </a:r>
            <a:br>
              <a:rPr lang="en-US" dirty="0"/>
            </a:br>
            <a:r>
              <a:rPr lang="en-US" dirty="0"/>
              <a:t>Dashboard</a:t>
            </a:r>
            <a:endParaRPr dirty="0"/>
          </a:p>
        </p:txBody>
      </p:sp>
      <p:sp>
        <p:nvSpPr>
          <p:cNvPr id="932" name="Google Shape;932;p81"/>
          <p:cNvSpPr txBox="1">
            <a:spLocks noGrp="1"/>
          </p:cNvSpPr>
          <p:nvPr>
            <p:ph type="title" idx="2"/>
          </p:nvPr>
        </p:nvSpPr>
        <p:spPr>
          <a:xfrm>
            <a:off x="3466500" y="1000603"/>
            <a:ext cx="22110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33" name="Google Shape;933;p81"/>
          <p:cNvSpPr txBox="1">
            <a:spLocks noGrp="1"/>
          </p:cNvSpPr>
          <p:nvPr>
            <p:ph type="subTitle" idx="1"/>
          </p:nvPr>
        </p:nvSpPr>
        <p:spPr>
          <a:xfrm>
            <a:off x="2909250" y="3479028"/>
            <a:ext cx="3325500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This dashboard analyzes sales performance and product trends, highlighting key revenue drivers and the impact of discounts on profitability.</a:t>
            </a:r>
            <a:endParaRPr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Performance Indicators (KPIs)</a:t>
            </a:r>
            <a:endParaRPr dirty="0"/>
          </a:p>
        </p:txBody>
      </p:sp>
      <p:sp>
        <p:nvSpPr>
          <p:cNvPr id="514" name="Google Shape;514;p62"/>
          <p:cNvSpPr txBox="1">
            <a:spLocks noGrp="1"/>
          </p:cNvSpPr>
          <p:nvPr>
            <p:ph type="subTitle" idx="5"/>
          </p:nvPr>
        </p:nvSpPr>
        <p:spPr>
          <a:xfrm>
            <a:off x="1129409" y="3395710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10.2%</a:t>
            </a:r>
            <a:endParaRPr sz="2800" b="1" dirty="0"/>
          </a:p>
        </p:txBody>
      </p:sp>
      <p:sp>
        <p:nvSpPr>
          <p:cNvPr id="515" name="Google Shape;515;p62"/>
          <p:cNvSpPr txBox="1">
            <a:spLocks noGrp="1"/>
          </p:cNvSpPr>
          <p:nvPr>
            <p:ph type="subTitle" idx="6"/>
          </p:nvPr>
        </p:nvSpPr>
        <p:spPr>
          <a:xfrm>
            <a:off x="1129409" y="2753710"/>
            <a:ext cx="1983600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Average</a:t>
            </a:r>
            <a:r>
              <a:rPr lang="en-US" dirty="0">
                <a:solidFill>
                  <a:schemeClr val="dk2"/>
                </a:solidFill>
              </a:rPr>
              <a:t>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Discount</a:t>
            </a:r>
          </a:p>
        </p:txBody>
      </p:sp>
      <p:sp>
        <p:nvSpPr>
          <p:cNvPr id="516" name="Google Shape;516;p62"/>
          <p:cNvSpPr txBox="1">
            <a:spLocks noGrp="1"/>
          </p:cNvSpPr>
          <p:nvPr>
            <p:ph type="subTitle" idx="7"/>
          </p:nvPr>
        </p:nvSpPr>
        <p:spPr>
          <a:xfrm>
            <a:off x="5406006" y="3395710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$21.97</a:t>
            </a:r>
            <a:endParaRPr sz="2800" b="1" dirty="0"/>
          </a:p>
        </p:txBody>
      </p:sp>
      <p:sp>
        <p:nvSpPr>
          <p:cNvPr id="517" name="Google Shape;517;p62"/>
          <p:cNvSpPr txBox="1">
            <a:spLocks noGrp="1"/>
          </p:cNvSpPr>
          <p:nvPr>
            <p:ph type="subTitle" idx="8"/>
          </p:nvPr>
        </p:nvSpPr>
        <p:spPr>
          <a:xfrm>
            <a:off x="5266078" y="2708436"/>
            <a:ext cx="2263457" cy="8509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Average Profit Per </a:t>
            </a:r>
            <a:r>
              <a:rPr lang="en" dirty="0">
                <a:solidFill>
                  <a:schemeClr val="bg2">
                    <a:lumMod val="75000"/>
                  </a:schemeClr>
                </a:solidFill>
              </a:rPr>
              <a:t>Order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8CD30-8796-7122-1D2E-BB807226A13B}"/>
              </a:ext>
            </a:extLst>
          </p:cNvPr>
          <p:cNvCxnSpPr/>
          <p:nvPr/>
        </p:nvCxnSpPr>
        <p:spPr>
          <a:xfrm>
            <a:off x="4254108" y="1434790"/>
            <a:ext cx="10798" cy="2547292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F38A891-50CB-271F-0F30-B097ADEF1B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8392" y="1529991"/>
            <a:ext cx="955000" cy="955000"/>
          </a:xfrm>
          <a:prstGeom prst="rect">
            <a:avLst/>
          </a:prstGeom>
        </p:spPr>
      </p:pic>
      <p:pic>
        <p:nvPicPr>
          <p:cNvPr id="16" name="Picture 15" descr="A hand holding a graph&#10;&#10;AI-generated content may be incorrect.">
            <a:extLst>
              <a:ext uri="{FF2B5EF4-FFF2-40B4-BE49-F238E27FC236}">
                <a16:creationId xmlns:a16="http://schemas.microsoft.com/office/drawing/2014/main" id="{D88C6EFC-DC52-D40C-DCCA-063974071E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05622" y="1434790"/>
            <a:ext cx="1167991" cy="11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99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6"/>
          <p:cNvSpPr txBox="1">
            <a:spLocks noGrp="1"/>
          </p:cNvSpPr>
          <p:nvPr>
            <p:ph type="title"/>
          </p:nvPr>
        </p:nvSpPr>
        <p:spPr>
          <a:xfrm>
            <a:off x="260194" y="0"/>
            <a:ext cx="72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INSIGHTS :</a:t>
            </a:r>
            <a:endParaRPr dirty="0">
              <a:solidFill>
                <a:schemeClr val="dk2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9B341B3-4B85-8C5E-E408-EF9EB8EF31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605058"/>
              </p:ext>
            </p:extLst>
          </p:nvPr>
        </p:nvGraphicFramePr>
        <p:xfrm>
          <a:off x="475784" y="545229"/>
          <a:ext cx="6586653" cy="1720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 descr="A green chart with green text&#10;&#10;AI-generated content may be incorrect.">
            <a:extLst>
              <a:ext uri="{FF2B5EF4-FFF2-40B4-BE49-F238E27FC236}">
                <a16:creationId xmlns:a16="http://schemas.microsoft.com/office/drawing/2014/main" id="{1EE0B0BE-27BD-34D3-1135-6777688014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83" y="2170771"/>
            <a:ext cx="7456451" cy="29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2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"/>
          <p:cNvSpPr txBox="1">
            <a:spLocks noGrp="1"/>
          </p:cNvSpPr>
          <p:nvPr>
            <p:ph type="title"/>
          </p:nvPr>
        </p:nvSpPr>
        <p:spPr>
          <a:xfrm>
            <a:off x="702491" y="2131032"/>
            <a:ext cx="4839563" cy="10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Customer &amp; Geography Dashboard</a:t>
            </a:r>
            <a:endParaRPr sz="3200"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 idx="2"/>
          </p:nvPr>
        </p:nvSpPr>
        <p:spPr>
          <a:xfrm>
            <a:off x="3215860" y="993169"/>
            <a:ext cx="22110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03" name="Google Shape;503;p61"/>
          <p:cNvSpPr txBox="1">
            <a:spLocks noGrp="1"/>
          </p:cNvSpPr>
          <p:nvPr>
            <p:ph type="subTitle" idx="1"/>
          </p:nvPr>
        </p:nvSpPr>
        <p:spPr>
          <a:xfrm>
            <a:off x="2216554" y="3270871"/>
            <a:ext cx="3325500" cy="127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dashboard provides insights into customer distribution and geographic sales performance, helping identify key markets and customer segments.</a:t>
            </a:r>
            <a:endParaRPr dirty="0"/>
          </a:p>
        </p:txBody>
      </p:sp>
      <p:cxnSp>
        <p:nvCxnSpPr>
          <p:cNvPr id="504" name="Google Shape;504;p61"/>
          <p:cNvCxnSpPr>
            <a:cxnSpLocks/>
          </p:cNvCxnSpPr>
          <p:nvPr/>
        </p:nvCxnSpPr>
        <p:spPr>
          <a:xfrm>
            <a:off x="5657249" y="1146689"/>
            <a:ext cx="0" cy="352195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3287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 txBox="1">
            <a:spLocks noGrp="1"/>
          </p:cNvSpPr>
          <p:nvPr>
            <p:ph type="title"/>
          </p:nvPr>
        </p:nvSpPr>
        <p:spPr>
          <a:xfrm>
            <a:off x="697802" y="53925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Performance Indicators (KPIs)</a:t>
            </a:r>
            <a:endParaRPr dirty="0"/>
          </a:p>
        </p:txBody>
      </p:sp>
      <p:sp>
        <p:nvSpPr>
          <p:cNvPr id="514" name="Google Shape;514;p62"/>
          <p:cNvSpPr txBox="1">
            <a:spLocks noGrp="1"/>
          </p:cNvSpPr>
          <p:nvPr>
            <p:ph type="subTitle" idx="5"/>
          </p:nvPr>
        </p:nvSpPr>
        <p:spPr>
          <a:xfrm>
            <a:off x="1129409" y="3395710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21K</a:t>
            </a:r>
            <a:endParaRPr sz="2800" b="1" dirty="0"/>
          </a:p>
        </p:txBody>
      </p:sp>
      <p:sp>
        <p:nvSpPr>
          <p:cNvPr id="515" name="Google Shape;515;p62"/>
          <p:cNvSpPr txBox="1">
            <a:spLocks noGrp="1"/>
          </p:cNvSpPr>
          <p:nvPr>
            <p:ph type="subTitle" idx="6"/>
          </p:nvPr>
        </p:nvSpPr>
        <p:spPr>
          <a:xfrm>
            <a:off x="1233551" y="2753710"/>
            <a:ext cx="1766544" cy="6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Total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Customers</a:t>
            </a:r>
          </a:p>
        </p:txBody>
      </p:sp>
      <p:sp>
        <p:nvSpPr>
          <p:cNvPr id="516" name="Google Shape;516;p62"/>
          <p:cNvSpPr txBox="1">
            <a:spLocks noGrp="1"/>
          </p:cNvSpPr>
          <p:nvPr>
            <p:ph type="subTitle" idx="7"/>
          </p:nvPr>
        </p:nvSpPr>
        <p:spPr>
          <a:xfrm>
            <a:off x="5406006" y="3395710"/>
            <a:ext cx="198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$183.11</a:t>
            </a:r>
            <a:endParaRPr sz="2800" b="1" dirty="0"/>
          </a:p>
        </p:txBody>
      </p:sp>
      <p:sp>
        <p:nvSpPr>
          <p:cNvPr id="517" name="Google Shape;517;p62"/>
          <p:cNvSpPr txBox="1">
            <a:spLocks noGrp="1"/>
          </p:cNvSpPr>
          <p:nvPr>
            <p:ph type="subTitle" idx="8"/>
          </p:nvPr>
        </p:nvSpPr>
        <p:spPr>
          <a:xfrm>
            <a:off x="5266078" y="2708436"/>
            <a:ext cx="2263457" cy="8509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Average Sales Per </a:t>
            </a:r>
            <a:r>
              <a:rPr lang="en" dirty="0">
                <a:solidFill>
                  <a:schemeClr val="bg2">
                    <a:lumMod val="75000"/>
                  </a:schemeClr>
                </a:solidFill>
              </a:rPr>
              <a:t>Customer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8CD30-8796-7122-1D2E-BB807226A13B}"/>
              </a:ext>
            </a:extLst>
          </p:cNvPr>
          <p:cNvCxnSpPr/>
          <p:nvPr/>
        </p:nvCxnSpPr>
        <p:spPr>
          <a:xfrm>
            <a:off x="4254108" y="1434790"/>
            <a:ext cx="10798" cy="2547292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oup of people in a row&#10;&#10;AI-generated content may be incorrect.">
            <a:extLst>
              <a:ext uri="{FF2B5EF4-FFF2-40B4-BE49-F238E27FC236}">
                <a16:creationId xmlns:a16="http://schemas.microsoft.com/office/drawing/2014/main" id="{FFE28905-FD7C-E83A-1A7C-8B2CDB1CEA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5454" y="1506095"/>
            <a:ext cx="1709865" cy="1065655"/>
          </a:xfrm>
          <a:prstGeom prst="rect">
            <a:avLst/>
          </a:prstGeom>
        </p:spPr>
      </p:pic>
      <p:pic>
        <p:nvPicPr>
          <p:cNvPr id="5" name="Picture 4" descr="A hand holding a bag of money&#10;&#10;AI-generated content may be incorrect.">
            <a:extLst>
              <a:ext uri="{FF2B5EF4-FFF2-40B4-BE49-F238E27FC236}">
                <a16:creationId xmlns:a16="http://schemas.microsoft.com/office/drawing/2014/main" id="{833EE977-141E-EED1-385A-BEDA39BB0A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9806" y="1528994"/>
            <a:ext cx="942875" cy="10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0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6"/>
          <p:cNvSpPr txBox="1">
            <a:spLocks noGrp="1"/>
          </p:cNvSpPr>
          <p:nvPr>
            <p:ph type="title"/>
          </p:nvPr>
        </p:nvSpPr>
        <p:spPr>
          <a:xfrm>
            <a:off x="260194" y="0"/>
            <a:ext cx="72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INSIGHTS :</a:t>
            </a:r>
            <a:endParaRPr dirty="0">
              <a:solidFill>
                <a:schemeClr val="dk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DF6BEBF-9208-68FA-2EC9-1905E8549D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775699"/>
              </p:ext>
            </p:extLst>
          </p:nvPr>
        </p:nvGraphicFramePr>
        <p:xfrm>
          <a:off x="394010" y="498088"/>
          <a:ext cx="7843024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6AF05B99-2906-B322-875C-121CD3284B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225" y="2313970"/>
            <a:ext cx="5233640" cy="269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8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3"/>
          <p:cNvSpPr txBox="1">
            <a:spLocks noGrp="1"/>
          </p:cNvSpPr>
          <p:nvPr>
            <p:ph type="title"/>
          </p:nvPr>
        </p:nvSpPr>
        <p:spPr>
          <a:xfrm>
            <a:off x="451920" y="145240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</a:rPr>
              <a:t>Recommendations :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63" name="Google Shape;963;p83"/>
          <p:cNvSpPr txBox="1">
            <a:spLocks noGrp="1"/>
          </p:cNvSpPr>
          <p:nvPr>
            <p:ph type="subTitle" idx="2"/>
          </p:nvPr>
        </p:nvSpPr>
        <p:spPr>
          <a:xfrm>
            <a:off x="805811" y="1115122"/>
            <a:ext cx="7726779" cy="3352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Fix Logistics Delays</a:t>
            </a:r>
            <a:r>
              <a:rPr lang="en-US" b="1" dirty="0"/>
              <a:t>:</a:t>
            </a:r>
            <a:r>
              <a:rPr lang="en-US" dirty="0"/>
              <a:t> Prioritize fixing the </a:t>
            </a:r>
            <a:r>
              <a:rPr lang="en-US" b="1" dirty="0"/>
              <a:t>54.8%</a:t>
            </a:r>
            <a:r>
              <a:rPr lang="en-US" dirty="0"/>
              <a:t> late delivery rate by auditing </a:t>
            </a:r>
            <a:r>
              <a:rPr lang="en-US" b="1" dirty="0"/>
              <a:t>Standard Class</a:t>
            </a:r>
            <a:r>
              <a:rPr lang="en-US" dirty="0"/>
              <a:t> shipping, which accounts for the most delays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Cap Discounts</a:t>
            </a:r>
            <a:r>
              <a:rPr lang="en-US" b="1" dirty="0"/>
              <a:t>:</a:t>
            </a:r>
            <a:r>
              <a:rPr lang="en-US" dirty="0"/>
              <a:t> Limit discount rates to under </a:t>
            </a:r>
            <a:r>
              <a:rPr lang="en-US" b="1" dirty="0"/>
              <a:t>15%</a:t>
            </a:r>
            <a:r>
              <a:rPr lang="en-US" dirty="0"/>
              <a:t> to protect the </a:t>
            </a:r>
            <a:r>
              <a:rPr lang="en-US" b="1" dirty="0"/>
              <a:t>$21.97</a:t>
            </a:r>
            <a:r>
              <a:rPr lang="en-US" dirty="0"/>
              <a:t> average profit per order and stop the margin decline.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Target High-Value Markets</a:t>
            </a:r>
            <a:r>
              <a:rPr lang="en-US" b="1" dirty="0"/>
              <a:t>:</a:t>
            </a:r>
            <a:r>
              <a:rPr lang="en-US" dirty="0"/>
              <a:t> Focus marketing and inventory on </a:t>
            </a:r>
            <a:r>
              <a:rPr lang="en-US" b="1" dirty="0" err="1"/>
              <a:t>Estados</a:t>
            </a:r>
            <a:r>
              <a:rPr lang="en-US" b="1" dirty="0"/>
              <a:t> Unidos</a:t>
            </a:r>
            <a:r>
              <a:rPr lang="en-US" dirty="0"/>
              <a:t> and the </a:t>
            </a:r>
            <a:r>
              <a:rPr lang="en-US" b="1" dirty="0"/>
              <a:t>Consumer segment</a:t>
            </a:r>
            <a:r>
              <a:rPr lang="en-US" dirty="0"/>
              <a:t>, as they represent the highest sales volume and customer value.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Align Delivery Timelines</a:t>
            </a:r>
            <a:r>
              <a:rPr lang="en-US" b="1" dirty="0"/>
              <a:t>:</a:t>
            </a:r>
            <a:r>
              <a:rPr lang="en-US" dirty="0"/>
              <a:t> Update "Scheduled" shipping days to match "Real" delivery times to manage customer expectations and improve satisfaction.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Reverse Sales Decline</a:t>
            </a:r>
            <a:r>
              <a:rPr lang="en-US" b="1" dirty="0"/>
              <a:t>:</a:t>
            </a:r>
            <a:r>
              <a:rPr lang="en-US" dirty="0"/>
              <a:t> Investigate the sharp drop in sales between </a:t>
            </a:r>
            <a:r>
              <a:rPr lang="en-US" b="1" dirty="0"/>
              <a:t>2017 and 2018</a:t>
            </a:r>
            <a:r>
              <a:rPr lang="en-US" dirty="0"/>
              <a:t> by launching a re-engagement campaign for the customers in the Consumer segment.</a:t>
            </a:r>
            <a:endParaRPr dirty="0"/>
          </a:p>
        </p:txBody>
      </p:sp>
      <p:cxnSp>
        <p:nvCxnSpPr>
          <p:cNvPr id="966" name="Google Shape;966;p83"/>
          <p:cNvCxnSpPr>
            <a:cxnSpLocks/>
          </p:cNvCxnSpPr>
          <p:nvPr/>
        </p:nvCxnSpPr>
        <p:spPr>
          <a:xfrm>
            <a:off x="805811" y="1115122"/>
            <a:ext cx="0" cy="278125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7"/>
          <p:cNvSpPr txBox="1">
            <a:spLocks noGrp="1"/>
          </p:cNvSpPr>
          <p:nvPr>
            <p:ph type="title"/>
          </p:nvPr>
        </p:nvSpPr>
        <p:spPr>
          <a:xfrm>
            <a:off x="430171" y="1274301"/>
            <a:ext cx="5309100" cy="3869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latin typeface="Bookman Old Style" panose="02050604050505020204" pitchFamily="18" charset="0"/>
              </a:rPr>
              <a:t>THANK</a:t>
            </a:r>
            <a:br>
              <a:rPr lang="en-US" sz="7200" dirty="0">
                <a:latin typeface="Bookman Old Style" panose="02050604050505020204" pitchFamily="18" charset="0"/>
              </a:rPr>
            </a:br>
            <a:r>
              <a:rPr lang="en-US" sz="7200" dirty="0">
                <a:latin typeface="Bookman Old Style" panose="02050604050505020204" pitchFamily="18" charset="0"/>
              </a:rPr>
              <a:t>YOU</a:t>
            </a:r>
            <a:endParaRPr sz="72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ly Chain Management Consulting Toolkit by Slidesgo">
  <a:themeElements>
    <a:clrScheme name="Simple Light">
      <a:dk1>
        <a:srgbClr val="351C75"/>
      </a:dk1>
      <a:lt1>
        <a:srgbClr val="FFFFFF"/>
      </a:lt1>
      <a:dk2>
        <a:srgbClr val="DE96C1"/>
      </a:dk2>
      <a:lt2>
        <a:srgbClr val="CCCCC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640</Words>
  <Application>Microsoft Office PowerPoint</Application>
  <PresentationFormat>On-screen Show (16:9)</PresentationFormat>
  <Paragraphs>82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Oswald Medium</vt:lpstr>
      <vt:lpstr>Staatliches</vt:lpstr>
      <vt:lpstr>Bookman Old Style</vt:lpstr>
      <vt:lpstr>Oxygen</vt:lpstr>
      <vt:lpstr>Roboto</vt:lpstr>
      <vt:lpstr>Supply Chain Management Consulting Toolkit by Slidesgo</vt:lpstr>
      <vt:lpstr>SUPPLY CHAIN  &amp; SALES PERFORMANCE Analysis</vt:lpstr>
      <vt:lpstr>PROBLEM STATEMENT</vt:lpstr>
      <vt:lpstr>PROJECT &amp; STRATEGY: DEFINITION</vt:lpstr>
      <vt:lpstr>DASHBOARDS</vt:lpstr>
      <vt:lpstr>Executive Dashboard</vt:lpstr>
      <vt:lpstr>Key Performance Indicators (KPIs)</vt:lpstr>
      <vt:lpstr>INSIGHTS :</vt:lpstr>
      <vt:lpstr>Supply Chain Dashboard</vt:lpstr>
      <vt:lpstr>Key Performance Indicators (KPIs)</vt:lpstr>
      <vt:lpstr>INSIGHTS :</vt:lpstr>
      <vt:lpstr>Sales and Product Dashboard</vt:lpstr>
      <vt:lpstr>Key Performance Indicators (KPIs)</vt:lpstr>
      <vt:lpstr>INSIGHTS :</vt:lpstr>
      <vt:lpstr>Customer &amp; Geography Dashboard</vt:lpstr>
      <vt:lpstr>Key Performance Indicators (KPIs)</vt:lpstr>
      <vt:lpstr>INSIGHTS :</vt:lpstr>
      <vt:lpstr>Recommendations 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shefin me</dc:creator>
  <cp:lastModifiedBy>shefin me</cp:lastModifiedBy>
  <cp:revision>11</cp:revision>
  <dcterms:modified xsi:type="dcterms:W3CDTF">2026-05-06T14:55:47Z</dcterms:modified>
</cp:coreProperties>
</file>